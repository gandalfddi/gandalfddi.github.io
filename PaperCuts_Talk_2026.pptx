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2" r:id="rId3"/>
    <p:sldId id="258" r:id="rId4"/>
    <p:sldId id="259" r:id="rId5"/>
    <p:sldId id="260" r:id="rId6"/>
    <p:sldId id="261" r:id="rId7"/>
    <p:sldId id="267" r:id="rId8"/>
    <p:sldId id="268" r:id="rId9"/>
    <p:sldId id="269" r:id="rId10"/>
    <p:sldId id="273" r:id="rId11"/>
    <p:sldId id="262" r:id="rId12"/>
    <p:sldId id="263" r:id="rId13"/>
    <p:sldId id="264" r:id="rId14"/>
    <p:sldId id="265" r:id="rId15"/>
    <p:sldId id="266"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734" autoAdjust="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lis" userId="2e3bb37f9c0c0bca" providerId="LiveId" clId="{B30963F8-B80C-4510-A3E0-E01581EA7040}"/>
    <pc:docChg chg="undo custSel modSld">
      <pc:chgData name="Ken Hollis" userId="2e3bb37f9c0c0bca" providerId="LiveId" clId="{B30963F8-B80C-4510-A3E0-E01581EA7040}" dt="2026-10-23T14:13:19.194" v="329" actId="1036"/>
      <pc:docMkLst>
        <pc:docMk/>
      </pc:docMkLst>
      <pc:sldChg chg="addSp delSp modSp mod">
        <pc:chgData name="Ken Hollis" userId="2e3bb37f9c0c0bca" providerId="LiveId" clId="{B30963F8-B80C-4510-A3E0-E01581EA7040}" dt="2026-10-23T14:13:19.194" v="329" actId="1036"/>
        <pc:sldMkLst>
          <pc:docMk/>
          <pc:sldMk cId="0" sldId="271"/>
        </pc:sldMkLst>
        <pc:spChg chg="mod">
          <ac:chgData name="Ken Hollis" userId="2e3bb37f9c0c0bca" providerId="LiveId" clId="{B30963F8-B80C-4510-A3E0-E01581EA7040}" dt="2026-10-23T14:13:05.902" v="322" actId="1035"/>
          <ac:spMkLst>
            <pc:docMk/>
            <pc:sldMk cId="0" sldId="271"/>
            <ac:spMk id="5" creationId="{00000000-0000-0000-0000-000000000000}"/>
          </ac:spMkLst>
        </pc:spChg>
        <pc:spChg chg="mod">
          <ac:chgData name="Ken Hollis" userId="2e3bb37f9c0c0bca" providerId="LiveId" clId="{B30963F8-B80C-4510-A3E0-E01581EA7040}" dt="2026-10-23T14:13:05.902" v="322" actId="1035"/>
          <ac:spMkLst>
            <pc:docMk/>
            <pc:sldMk cId="0" sldId="271"/>
            <ac:spMk id="6" creationId="{00000000-0000-0000-0000-000000000000}"/>
          </ac:spMkLst>
        </pc:spChg>
        <pc:spChg chg="mod">
          <ac:chgData name="Ken Hollis" userId="2e3bb37f9c0c0bca" providerId="LiveId" clId="{B30963F8-B80C-4510-A3E0-E01581EA7040}" dt="2026-10-23T14:13:19.194" v="329" actId="1036"/>
          <ac:spMkLst>
            <pc:docMk/>
            <pc:sldMk cId="0" sldId="271"/>
            <ac:spMk id="7" creationId="{00000000-0000-0000-0000-000000000000}"/>
          </ac:spMkLst>
        </pc:spChg>
        <pc:spChg chg="mod">
          <ac:chgData name="Ken Hollis" userId="2e3bb37f9c0c0bca" providerId="LiveId" clId="{B30963F8-B80C-4510-A3E0-E01581EA7040}" dt="2026-10-23T14:13:19.194" v="329" actId="1036"/>
          <ac:spMkLst>
            <pc:docMk/>
            <pc:sldMk cId="0" sldId="271"/>
            <ac:spMk id="8" creationId="{00000000-0000-0000-0000-000000000000}"/>
          </ac:spMkLst>
        </pc:spChg>
        <pc:spChg chg="mod">
          <ac:chgData name="Ken Hollis" userId="2e3bb37f9c0c0bca" providerId="LiveId" clId="{B30963F8-B80C-4510-A3E0-E01581EA7040}" dt="2026-10-23T14:13:19.194" v="329" actId="1036"/>
          <ac:spMkLst>
            <pc:docMk/>
            <pc:sldMk cId="0" sldId="271"/>
            <ac:spMk id="9" creationId="{00000000-0000-0000-0000-000000000000}"/>
          </ac:spMkLst>
        </pc:spChg>
        <pc:spChg chg="add mod">
          <ac:chgData name="Ken Hollis" userId="2e3bb37f9c0c0bca" providerId="LiveId" clId="{B30963F8-B80C-4510-A3E0-E01581EA7040}" dt="2026-10-23T14:12:37.725" v="273" actId="1035"/>
          <ac:spMkLst>
            <pc:docMk/>
            <pc:sldMk cId="0" sldId="271"/>
            <ac:spMk id="11" creationId="{53203DBD-BBED-33B7-EDEC-1438063B4684}"/>
          </ac:spMkLst>
        </pc:spChg>
        <pc:spChg chg="add del">
          <ac:chgData name="Ken Hollis" userId="2e3bb37f9c0c0bca" providerId="LiveId" clId="{B30963F8-B80C-4510-A3E0-E01581EA7040}" dt="2026-10-23T14:12:07.572" v="257" actId="22"/>
          <ac:spMkLst>
            <pc:docMk/>
            <pc:sldMk cId="0" sldId="271"/>
            <ac:spMk id="13" creationId="{81A9480F-DC1E-1AA2-CCD5-E894B0798A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8424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July 2023. A letter shows up from a company I'd never heard of and never done business with directly. Pension Benefit Information. They wanted me to know they'd lost my name, Social Security number, and date of birth - and my wife's.</a:t>
            </a:r>
          </a:p>
          <a:p>
            <a:endParaRPr lang="en-US" dirty="0"/>
          </a:p>
          <a:p>
            <a:r>
              <a:rPr lang="en-US" dirty="0"/>
              <a:t>Show of hands, who got a "your data was compromised … Oops" letter? [pause] Yeah.</a:t>
            </a:r>
          </a:p>
          <a:p>
            <a:endParaRPr lang="en-US" dirty="0"/>
          </a:p>
          <a:p>
            <a:r>
              <a:rPr lang="en-US" dirty="0"/>
              <a:t>Of course I started digging the minute I opened it. You would too. Between the letter, what was public about the MOVEit vulnerability mentioned in the letter (Thank you Kroll for expounding), and my years in Microsoft's Cyber Defense Operations Center, I filled in the parts they weren't saying.</a:t>
            </a:r>
          </a:p>
          <a:p>
            <a:endParaRPr lang="en-US" dirty="0"/>
          </a:p>
          <a:p>
            <a:r>
              <a:rPr lang="en-US" dirty="0"/>
              <a:t>The more I dug, the more annoyed I got. I was spending my personal time cleaning up their mess and having to deal with the three credit services Equifax, Transunion, and Experian. </a:t>
            </a:r>
          </a:p>
          <a:p>
            <a:endParaRPr lang="en-US" dirty="0"/>
          </a:p>
          <a:p>
            <a:r>
              <a:rPr lang="en-US" dirty="0"/>
              <a:t>I made mistakes along the way. You get them for free today. And in the end, I made them pay for my time … one hour of it anyway, plus it cost them a lawyer's time (multiple hours) and their CEO's day in court to lose.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talk is NOT about the late Aug 2026 PaperCut CVE. Half this room patched your </a:t>
            </a:r>
            <a:r>
              <a:rPr lang="en-US" sz="1200" b="0" i="0" kern="1200" dirty="0">
                <a:solidFill>
                  <a:schemeClr val="tx1"/>
                </a:solidFill>
                <a:effectLst/>
                <a:latin typeface="+mn-lt"/>
                <a:ea typeface="+mn-ea"/>
                <a:cs typeface="+mn-cs"/>
              </a:rPr>
              <a:t>PaperCut NG and PaperCut MF software</a:t>
            </a:r>
            <a:r>
              <a:rPr lang="en-US" dirty="0"/>
              <a:t>. The rest of you NEED to patch. </a:t>
            </a:r>
            <a:r>
              <a:rPr lang="en-US" dirty="0">
                <a:sym typeface="Wingdings" panose="05000000000000000000" pitchFamily="2" charset="2"/>
              </a:rPr>
              <a:t></a:t>
            </a:r>
            <a:r>
              <a:rPr lang="en-US" dirty="0"/>
              <a:t> Different paper cut.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IANAL. Just persistent, like many of you. What REALLY got me into all of this was their assumption that I would work for them for free because they had bad cybersecurity. In the end companies just care about if they are legally covered, no care about the customers that were compromised. " We take the security of your information very seriously" Yeah. Sure you do. </a:t>
            </a:r>
            <a:r>
              <a:rPr lang="en-US"/>
              <a:t>Thoughts &amp; prayers</a:t>
            </a:r>
          </a:p>
          <a:p>
            <a:endParaRPr lang="en-US" dirty="0"/>
          </a:p>
          <a:p>
            <a:r>
              <a:rPr lang="en-US" dirty="0"/>
              <a:t>Honestly the one advantage I had: time. I was retired by the time this got to court and I could dig into the legal aspects. Hopefully this paper will save you some time. Letter in July 2023. Invoice that August. First filing in 2024 which was dismissed. Refiled in 2025. Trial in March 2026. Almost three years from letter to check.</a:t>
            </a:r>
          </a:p>
          <a:p>
            <a:endParaRPr lang="en-US" dirty="0"/>
          </a:p>
          <a:p>
            <a:r>
              <a:rPr lang="en-US" dirty="0"/>
              <a:t>Court doesn't happen on your schedule. Pretrial hearing was a weekday at 8:45 in the morning. The court decides if it is in person or videoconference, but it is mandatory. Then mediation. Then trial. If you're working, plan for the time off, that is part of what this costs you. It's not a weekend project, it's a slow burn. Persistence is the whole strategy and how you wear down the other side.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Cl0p – Russian-speaking ransomware and extortion gang also known as Lace Tempest. For MOVEit they didn't bother encrypting anything. Smash-and-grab, steal the data, post the victims on a leak site, demand payment. Cl0p apparently sat on this exploit for 2 years then picked the right moment to exploit, probably running scans &amp; targeting vulnerable companies that had data they wanted.</a:t>
            </a:r>
          </a:p>
          <a:p>
            <a:endParaRPr lang="en-US" dirty="0"/>
          </a:p>
          <a:p>
            <a:r>
              <a:rPr lang="en-US" dirty="0"/>
              <a:t>CVE-2023-34362, a SQL injection in Progress Software's MOVEit Transfer. A file-transfer tool companies use to move sensitive data. It was disclosed May 31, 2023. Cl0p was already in, exploiting it over Memorial Day weekend – a holiday weekend, naturally.</a:t>
            </a:r>
          </a:p>
          <a:p>
            <a:endParaRPr lang="en-US" dirty="0"/>
          </a:p>
          <a:p>
            <a:r>
              <a:rPr lang="en-US" dirty="0"/>
              <a:t>The damage: About 93 million people and greater than 2,700 organizations. A lot of you are probably in that number. I was. That's how I got here. The 42 days PBI took to notify me was 42 days my data was exposed without me knowing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did what any consultant does. I sent them a bill. You MUST send an invoice. This is the first step, it creates the refusal, and the refusal is the story a judge understands instantly.</a:t>
            </a:r>
          </a:p>
          <a:p>
            <a:endParaRPr lang="en-US" dirty="0"/>
          </a:p>
          <a:p>
            <a:r>
              <a:rPr lang="en-US" dirty="0"/>
              <a:t>The answer came back from "PBI Research Services", their trade name, not their legal name. Remember that; it matters later. "Due to pending litigation … PBI is not engaging in negotiations with individuals at this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then looked at small claims. Turns out it's the people's court, lawyers can't even appear unless the judge allows it. I sued them in small claims court for $1,050. PBI showed up with corporate counsel and a motion to dismiss. That right there cost them more than the $1,050 I was asking for. Washington state you have three years to file a small claims case, Oregon is 2 years from what I can tell.</a:t>
            </a:r>
          </a:p>
          <a:p>
            <a:endParaRPr lang="en-US" dirty="0"/>
          </a:p>
          <a:p>
            <a:r>
              <a:rPr lang="en-US" dirty="0"/>
              <a:t>PBI lawyer raised that I should just join the class action suit. From the addendum: "PBI points to the fact that there are large-scale class action lawsuits pending, including against PBI." The judge didn't buy it: "potential class members are entitled to opt out of the class by filing their own lawsuit. That is what Hollis has done." I didn't even have to argue it – the judge did it for me.</a:t>
            </a:r>
          </a:p>
          <a:p>
            <a:endParaRPr lang="en-US" dirty="0"/>
          </a:p>
          <a:p>
            <a:r>
              <a:rPr lang="en-US" dirty="0"/>
              <a:t>You can do Small Claims OR Class Action, not both.</a:t>
            </a:r>
          </a:p>
          <a:p>
            <a:endParaRPr lang="en-US" dirty="0"/>
          </a:p>
          <a:p>
            <a:r>
              <a:rPr lang="en-US" dirty="0"/>
              <a:t>If you got a breach letter, you’re in the class by default – nobody asks you. Lawyers file on behalf of everyone and typically take a quarter to a third off the top. Your share: a few dollars and another round of credit monitoring. When a settlement notice arrives, it has an opt-out deadline. Miss it and you’re bound by the settlement – including the release that says you can’t sue them yourself.</a:t>
            </a:r>
          </a:p>
          <a:p>
            <a:endParaRPr lang="en-US" dirty="0"/>
          </a:p>
          <a:p>
            <a:r>
              <a:rPr lang="en-US" dirty="0"/>
              <a:t>They offer "free credit monitoring" but the problem is that it tells you after someone opens an account in your name, too late. A freeze stops them from opening it. Freezes are free. Your SSN doesn’t expire in two years – unlike the credit monitoring that does expire.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are the steps and some of my mistakes</a:t>
            </a:r>
          </a:p>
          <a:p>
            <a:endParaRPr lang="en-US" dirty="0"/>
          </a:p>
          <a:p>
            <a:r>
              <a:rPr lang="en-US" dirty="0"/>
              <a:t>Step 1. KISS – Keep It Super Simple. Don't muddy the waters; just the pages that prove your points. I found a page from an "industry solution provider" making claims with no solid reference, it stayed out of my evidence.</a:t>
            </a:r>
          </a:p>
          <a:p>
            <a:endParaRPr lang="en-US" dirty="0"/>
          </a:p>
          <a:p>
            <a:r>
              <a:rPr lang="en-US" dirty="0"/>
              <a:t>Step 2 – PBI's blog described their security program. It disappeared on July 16, 2024 while litigation was underway. Luckily the Wayback Machine already had it. It's in my evidence. Keep copies locally of anything the day you get the letter, it may disappear later.</a:t>
            </a:r>
          </a:p>
          <a:p>
            <a:endParaRPr lang="en-US" dirty="0"/>
          </a:p>
          <a:p>
            <a:r>
              <a:rPr lang="en-US" dirty="0"/>
              <a:t>Their own blog (which was later deleted) discussed an annual SOC 2 audit. If you've lived through one, you just winced. The company, not the auditors, write their own checklist. An auditor confirms they followed the checklist that they wrote. No MFA, no pentest, no network segmentation required unless they call it out.</a:t>
            </a:r>
          </a:p>
          <a:p>
            <a:endParaRPr lang="en-US" dirty="0"/>
          </a:p>
          <a:p>
            <a:r>
              <a:rPr lang="en-US" dirty="0"/>
              <a:t>Step 3 – PBI used two names: "PBI Research Services" and "Pension Benefit Information, LLC." Only one is the legal entity (the LLC). Sue the legal entity. Read the fine print. I didn't &amp; I had to correct the Small Claims case and pay a Process Sever twice.</a:t>
            </a:r>
          </a:p>
          <a:p>
            <a:endParaRPr lang="en-US" dirty="0"/>
          </a:p>
          <a:p>
            <a:r>
              <a:rPr lang="en-US" dirty="0"/>
              <a:t>Step 4 – Split expert time from routine time from day one. The judge did it for me anyway, one hour paid, the credit freezes were unpaid.</a:t>
            </a:r>
          </a:p>
          <a:p>
            <a:endParaRPr lang="en-US" dirty="0"/>
          </a:p>
          <a:p>
            <a:r>
              <a:rPr lang="en-US" dirty="0"/>
              <a:t>Step 5 – I asked for $300 an hour, a conservative rate for my field and area. The judge accepted exactly that. Ask for your floor, not your ceiling.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Step 6 – Invoice first. The refusal letter is your whole story in two seconds.</a:t>
            </a:r>
          </a:p>
          <a:p>
            <a:endParaRPr lang="en-US" dirty="0"/>
          </a:p>
          <a:p>
            <a:r>
              <a:rPr lang="en-US" dirty="0"/>
              <a:t>Step 7 – My first filing was for my wife's claim. You can't represent anyone but yourself in small claims and it was dismissed. I had to refile for myself. If your spouse wants in, they file as co-plaintiff and show up to every hearing. Adult kids file for themselves. For a minor you file in your own name, or the court appoints you guardian ad litem.</a:t>
            </a:r>
          </a:p>
          <a:p>
            <a:r>
              <a:rPr lang="en-US" dirty="0"/>
              <a:t>Washington: claim under $1,000 and YOU can't appeal, THEY still can at $250 or more. Know that before you pick your number.</a:t>
            </a:r>
          </a:p>
          <a:p>
            <a:endParaRPr lang="en-US" dirty="0"/>
          </a:p>
          <a:p>
            <a:r>
              <a:rPr lang="en-US" dirty="0"/>
              <a:t>Step 8 – Service of process will bite you. A non-party over 18 serves them, never you. Hire a professional process server in the registered agent’s city. Process servers do this every day; your cousin doesn't. Washington: served at least 10 days before pretrial, Declaration of Service filed. Miss it and you're done. Certified mail? Only counts if the right person signs – and they can refuse. Don't use Certified Mail. Add the process server fee to your claim. I didn't – about $80 per delivery, my bad.</a:t>
            </a:r>
          </a:p>
          <a:p>
            <a:endParaRPr lang="en-US" dirty="0"/>
          </a:p>
          <a:p>
            <a:r>
              <a:rPr lang="en-US" dirty="0"/>
              <a:t>Step 9 – After you file, ask the clerk how to attach yourself to the case portal. It's not automatic and nobody tells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Step 10 – Mediation. Mandatory, free, confidential. If they low-ball you, walk. It costs nothing extra to go to trial if the number is wrong. If you're feeling generous, offer some basic cybersecurity training for their staff. They'll probably refuse.</a:t>
            </a:r>
          </a:p>
          <a:p>
            <a:endParaRPr lang="en-US" dirty="0"/>
          </a:p>
          <a:p>
            <a:r>
              <a:rPr lang="en-US" dirty="0"/>
              <a:t>Before mediation, their lawyer may want a "just want to chat" call "maybe we can work this out before mediation." This is NOT a friendly call. That call isn't mediation, what you say can be used ... They're fishing for something to use against you. Be polite, be brief, and save it for mediation.</a:t>
            </a:r>
          </a:p>
          <a:p>
            <a:endParaRPr lang="en-US" dirty="0"/>
          </a:p>
          <a:p>
            <a:r>
              <a:rPr lang="en-US" dirty="0"/>
              <a:t>Their C-suite (Corporate Executive Suite) doesn't want a judgment on the record, and they really don't want the rest of you doing this. Which is exactly why I'm up here </a:t>
            </a:r>
            <a:r>
              <a:rPr lang="en-US" sz="1200" b="1" kern="1200" dirty="0">
                <a:solidFill>
                  <a:schemeClr val="tx1"/>
                </a:solidFill>
                <a:effectLst/>
                <a:latin typeface="+mn-lt"/>
                <a:ea typeface="+mn-ea"/>
                <a:cs typeface="+mn-cs"/>
                <a:sym typeface="Segoe UI Emoji" panose="020B0502040204020203" pitchFamily="34" charset="0"/>
              </a:rPr>
              <a:t>😊</a:t>
            </a:r>
            <a:r>
              <a:rPr lang="en-US" dirty="0"/>
              <a:t>.</a:t>
            </a:r>
          </a:p>
          <a:p>
            <a:br>
              <a:rPr lang="en-US" dirty="0"/>
            </a:br>
            <a:r>
              <a:rPr lang="en-US" dirty="0"/>
              <a:t>Step 11 – The jurisdiction motion – we will discuss that soon. Stay calm, your state, their numbers they have already stated of how many people in your state were affected.</a:t>
            </a:r>
          </a:p>
          <a:p>
            <a:endParaRPr lang="en-US" dirty="0"/>
          </a:p>
          <a:p>
            <a:r>
              <a:rPr lang="en-US" dirty="0"/>
              <a:t>Step 12 – Exchange evidence 14 days before trial, in writing, with proof of delivery. Two printed copies in the courtroom – the clerk doesn't make copies for the judge.</a:t>
            </a:r>
          </a:p>
          <a:p>
            <a:endParaRPr lang="en-US" dirty="0"/>
          </a:p>
          <a:p>
            <a:r>
              <a:rPr lang="en-US" dirty="0"/>
              <a:t>Step 13 – Show up prepared. Five elements: duty, breach, causation, proximate cause, damages. My full argument outline is on the site. Copy, paste &amp; update as necessary. I had 20 minutes for my argument(s).</a:t>
            </a:r>
          </a:p>
          <a:p>
            <a:endParaRPr lang="en-US" dirty="0"/>
          </a:p>
          <a:p>
            <a:r>
              <a:rPr lang="en-US" dirty="0"/>
              <a:t>Step 14 – Take the check. File the Satisfaction of Judgment and close the record.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are the rules for Oregon, read it yourself, I am describing what I read and have NOT been through the Oregon small claims, YMMV. Oregon small claims caps at $10,000 and keeps lawyers out unless the judge allows one. My $1,050 claim could have resulted in a jury in Oregon, obviously keep an Oregon claim at $750 or under per your time logs.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Do not be intimidated by opposing counsel appearing. The playbook gives you rebuttals. The lawyers just want you to be intimidated &amp; to go away. See the Evidence example for legal rebuttals.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Stay calm. When a corporate lawyer files a motion to dismiss, it's designed to make you fold. Don't.</a:t>
            </a:r>
          </a:p>
          <a:p>
            <a:endParaRPr lang="en-US" dirty="0"/>
          </a:p>
          <a:p>
            <a:r>
              <a:rPr lang="en-US" dirty="0"/>
              <a:t>Your state, your court. They held your data, the harm landed here, and you live here.</a:t>
            </a:r>
          </a:p>
          <a:p>
            <a:endParaRPr lang="en-US" dirty="0"/>
          </a:p>
          <a:p>
            <a:r>
              <a:rPr lang="en-US" dirty="0"/>
              <a:t>PBI filed breach notices with the Washington Attorney General for almost 19,000 Washington residents. PBI's lawyer added a line saying that notice didn't concede jurisdiction. Fine. It still proves they knew they held Washington resident data and were subject to the laws of Washington. Their number, not yours. And you are not alone. Where else can those 19,000 people practically sue? Minnesota? Drive there? The judge's answer was: here in Washington State.</a:t>
            </a:r>
          </a:p>
          <a:p>
            <a:endParaRPr lang="en-US" dirty="0"/>
          </a:p>
          <a:p>
            <a:r>
              <a:rPr lang="en-US" dirty="0"/>
              <a:t>Don't throw everything into your argument. Just the salient facts. Resident count. Where else can they sue. Their own filing as your exhibit. Just the facts, ma'am.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Small claims is not a binding precedent, and a judge hearing YOUR case may or may not find this ruling useful - some judges will read it with interest, some will shrug. The playbook is what is important, not my ruling: your documentation and your </a:t>
            </a:r>
            <a:r>
              <a:rPr lang="en-US"/>
              <a:t>own state's </a:t>
            </a:r>
            <a:r>
              <a:rPr lang="en-US" dirty="0"/>
              <a:t>negligence and notification statutes. My example proves the path exists; BUT every case still walks it on its own facts</a:t>
            </a:r>
            <a:r>
              <a:rPr lang="en-US"/>
              <a:t>. </a:t>
            </a:r>
            <a:r>
              <a:rPr lang="en-US" sz="1200" i="1">
                <a:solidFill>
                  <a:srgbClr val="8A8A8A"/>
                </a:solidFill>
                <a:latin typeface="Courier New" pitchFamily="34" charset="0"/>
                <a:ea typeface="Courier New" pitchFamily="34" charset="-122"/>
                <a:cs typeface="Courier New" pitchFamily="34" charset="-120"/>
              </a:rPr>
              <a:t>"The </a:t>
            </a:r>
            <a:r>
              <a:rPr lang="en-US" sz="1200" i="1" dirty="0">
                <a:solidFill>
                  <a:srgbClr val="8A8A8A"/>
                </a:solidFill>
                <a:latin typeface="Courier New" pitchFamily="34" charset="0"/>
                <a:ea typeface="Courier New" pitchFamily="34" charset="-122"/>
                <a:cs typeface="Courier New" pitchFamily="34" charset="-120"/>
              </a:rPr>
              <a:t>Court finds by a preponderance that MOVEit was </a:t>
            </a:r>
            <a:r>
              <a:rPr lang="en-US" sz="1200" i="1">
                <a:solidFill>
                  <a:srgbClr val="8A8A8A"/>
                </a:solidFill>
                <a:latin typeface="Courier New" pitchFamily="34" charset="0"/>
                <a:ea typeface="Courier New" pitchFamily="34" charset="-122"/>
                <a:cs typeface="Courier New" pitchFamily="34" charset="-120"/>
              </a:rPr>
              <a:t>negligent." </a:t>
            </a:r>
            <a:r>
              <a:rPr lang="en-US" sz="1200" i="1" dirty="0">
                <a:solidFill>
                  <a:srgbClr val="8A8A8A"/>
                </a:solidFill>
                <a:latin typeface="Courier New" pitchFamily="34" charset="0"/>
                <a:ea typeface="Courier New" pitchFamily="34" charset="-122"/>
                <a:cs typeface="Courier New" pitchFamily="34" charset="-120"/>
              </a:rPr>
              <a:t>With a judgment entered against PBI.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Professional skills change what your time is worth in court. Your time for doing non-professional activities may be less … Or zero. No harm in asking for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"Only </a:t>
            </a:r>
            <a:r>
              <a:rPr lang="en-US" dirty="0"/>
              <a:t>$</a:t>
            </a:r>
            <a:r>
              <a:rPr lang="en-US"/>
              <a:t>350?". </a:t>
            </a:r>
            <a:r>
              <a:rPr lang="en-US" dirty="0"/>
              <a:t>Yes, but if EACH ONE of us did that think of the time (ESPECIALLY legal time) and money the negligent companies would spend on each case. Multiply by the affected-resident count and the economics of negligence change. Another lesson: know the appeal rules BEFORE you pick your claim amount. In Washington, claiming under $1,000 only takes away MY right to appeal, they can still appeal anything $250 or more. In Oregon, keep it at $750 or under so </a:t>
            </a:r>
            <a:r>
              <a:rPr lang="en-US"/>
              <a:t>they can't </a:t>
            </a:r>
            <a:r>
              <a:rPr lang="en-US" dirty="0"/>
              <a:t>demand a jury. Check the limits in your state, otherwise it could get more complicated.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barrier was never lawyers. You already keep logs, versions, evidence, and write postmortems. Those ARE the skills. You can do this in your sleep.</a:t>
            </a:r>
          </a:p>
          <a:p>
            <a:endParaRPr lang="en-US" dirty="0"/>
          </a:p>
          <a:p>
            <a:r>
              <a:rPr lang="en-US" dirty="0"/>
              <a:t>NOW you have the Small Claims workflow. Find the real legal entity. Log expert time separately from routine time. Invoice first. Serve the registered agent – never yourself. Fourteen steps, all on the site.</a:t>
            </a:r>
          </a:p>
          <a:p>
            <a:endParaRPr lang="en-US" dirty="0"/>
          </a:p>
          <a:p>
            <a:r>
              <a:rPr lang="en-US" dirty="0"/>
              <a:t>The lawyers will try to bluff you out of it. They're betting you'll fold. Don't.</a:t>
            </a:r>
          </a:p>
          <a:p>
            <a:endParaRPr lang="en-US" dirty="0"/>
          </a:p>
          <a:p>
            <a:r>
              <a:rPr lang="en-US" dirty="0"/>
              <a:t>Next time a breach letter shows up – and it will – start the clock the day you open the letter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URL with all the information. Precedent: small claims binds nobody, and another judge may or may not care what this one found - the method replicates, the ruling does not. That is enough. </a:t>
            </a:r>
          </a:p>
          <a:p>
            <a:endParaRPr lang="en-US" dirty="0"/>
          </a:p>
          <a:p>
            <a:r>
              <a:rPr lang="en-US"/>
              <a:t>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640080" y="640080"/>
            <a:ext cx="2377440" cy="347472"/>
          </a:xfrm>
          <a:prstGeom prst="rect">
            <a:avLst/>
          </a:prstGeom>
          <a:solidFill>
            <a:srgbClr val="39FF14"/>
          </a:solidFill>
          <a:ln/>
        </p:spPr>
        <p:txBody>
          <a:bodyPr wrap="square" lIns="0" tIns="0" rIns="0" bIns="0" rtlCol="0" anchor="ctr"/>
          <a:lstStyle/>
          <a:p>
            <a:pPr marL="0" indent="0" algn="ctr">
              <a:buNone/>
            </a:pPr>
            <a:r>
              <a:rPr lang="en-US" sz="1300" b="1" kern="0" spc="200" dirty="0">
                <a:solidFill>
                  <a:srgbClr val="000000"/>
                </a:solidFill>
                <a:latin typeface="Courier New" pitchFamily="34" charset="0"/>
                <a:ea typeface="Courier New" pitchFamily="34" charset="-122"/>
                <a:cs typeface="Courier New" pitchFamily="34" charset="-120"/>
              </a:rPr>
              <a:t>BSIDES PDX 2026</a:t>
            </a:r>
            <a:endParaRPr lang="en-US" sz="1300" dirty="0"/>
          </a:p>
        </p:txBody>
      </p:sp>
      <p:sp>
        <p:nvSpPr>
          <p:cNvPr id="3" name="Text 1"/>
          <p:cNvSpPr/>
          <p:nvPr/>
        </p:nvSpPr>
        <p:spPr>
          <a:xfrm>
            <a:off x="640080" y="1371600"/>
            <a:ext cx="10881360" cy="2011680"/>
          </a:xfrm>
          <a:prstGeom prst="rect">
            <a:avLst/>
          </a:prstGeom>
          <a:noFill/>
          <a:ln/>
        </p:spPr>
        <p:txBody>
          <a:bodyPr wrap="square" lIns="0" tIns="0" rIns="0" bIns="0" rtlCol="0" anchor="ctr"/>
          <a:lstStyle/>
          <a:p>
            <a:pPr marL="0" indent="0" algn="l">
              <a:lnSpc>
                <a:spcPts val="6000"/>
              </a:lnSpc>
              <a:buNone/>
            </a:pPr>
            <a:r>
              <a:rPr lang="en-US" sz="5400" b="1" dirty="0">
                <a:solidFill>
                  <a:srgbClr val="F0F0F0"/>
                </a:solidFill>
                <a:latin typeface="Courier New" pitchFamily="34" charset="0"/>
                <a:ea typeface="Courier New" pitchFamily="34" charset="-122"/>
                <a:cs typeface="Courier New" pitchFamily="34" charset="-120"/>
              </a:rPr>
              <a:t>Death by a Thousand</a:t>
            </a:r>
            <a:endParaRPr lang="en-US" sz="5400" dirty="0"/>
          </a:p>
          <a:p>
            <a:pPr marL="0" indent="0" algn="l">
              <a:lnSpc>
                <a:spcPts val="6000"/>
              </a:lnSpc>
              <a:buNone/>
            </a:pPr>
            <a:r>
              <a:rPr lang="en-US" sz="5400" b="1" dirty="0">
                <a:solidFill>
                  <a:srgbClr val="F0F0F0"/>
                </a:solidFill>
                <a:latin typeface="Courier New" pitchFamily="34" charset="0"/>
                <a:ea typeface="Courier New" pitchFamily="34" charset="-122"/>
                <a:cs typeface="Courier New" pitchFamily="34" charset="-120"/>
              </a:rPr>
              <a:t>Paper Cuts</a:t>
            </a:r>
            <a:endParaRPr lang="en-US" sz="5400" dirty="0"/>
          </a:p>
        </p:txBody>
      </p:sp>
      <p:sp>
        <p:nvSpPr>
          <p:cNvPr id="4" name="Text 2"/>
          <p:cNvSpPr/>
          <p:nvPr/>
        </p:nvSpPr>
        <p:spPr>
          <a:xfrm>
            <a:off x="640080" y="3520440"/>
            <a:ext cx="10881360" cy="914400"/>
          </a:xfrm>
          <a:prstGeom prst="rect">
            <a:avLst/>
          </a:prstGeom>
          <a:noFill/>
          <a:ln/>
        </p:spPr>
        <p:txBody>
          <a:bodyPr wrap="square" lIns="0" tIns="0" rIns="0" bIns="0" rtlCol="0" anchor="ctr"/>
          <a:lstStyle/>
          <a:p>
            <a:pPr marL="0" indent="0" algn="l">
              <a:buNone/>
            </a:pPr>
            <a:r>
              <a:rPr lang="en-US" sz="2000" dirty="0">
                <a:solidFill>
                  <a:srgbClr val="FFB300"/>
                </a:solidFill>
                <a:latin typeface="Courier New" pitchFamily="34" charset="0"/>
                <a:ea typeface="Courier New" pitchFamily="34" charset="-122"/>
                <a:cs typeface="Courier New" pitchFamily="34" charset="-120"/>
              </a:rPr>
              <a:t>Making Corporate Data Negligence Expensive,</a:t>
            </a:r>
            <a:endParaRPr lang="en-US" sz="2000" dirty="0"/>
          </a:p>
          <a:p>
            <a:pPr marL="0" indent="0" algn="l">
              <a:buNone/>
            </a:pPr>
            <a:r>
              <a:rPr lang="en-US" sz="2000" dirty="0">
                <a:solidFill>
                  <a:srgbClr val="FFB300"/>
                </a:solidFill>
                <a:latin typeface="Courier New" pitchFamily="34" charset="0"/>
                <a:ea typeface="Courier New" pitchFamily="34" charset="-122"/>
                <a:cs typeface="Courier New" pitchFamily="34" charset="-120"/>
              </a:rPr>
              <a:t>One Small Claims Case at a Time</a:t>
            </a:r>
            <a:endParaRPr lang="en-US" sz="2000" dirty="0"/>
          </a:p>
        </p:txBody>
      </p:sp>
      <p:sp>
        <p:nvSpPr>
          <p:cNvPr id="5" name="Shape 3"/>
          <p:cNvSpPr/>
          <p:nvPr/>
        </p:nvSpPr>
        <p:spPr>
          <a:xfrm>
            <a:off x="640080" y="4754880"/>
            <a:ext cx="10881360" cy="1051560"/>
          </a:xfrm>
          <a:prstGeom prst="rect">
            <a:avLst/>
          </a:prstGeom>
          <a:solidFill>
            <a:srgbClr val="111111"/>
          </a:solidFill>
          <a:ln w="12700">
            <a:solidFill>
              <a:srgbClr val="39FF14"/>
            </a:solidFill>
            <a:prstDash val="solid"/>
          </a:ln>
        </p:spPr>
        <p:txBody>
          <a:bodyPr/>
          <a:lstStyle/>
          <a:p>
            <a:endParaRPr lang="en-US"/>
          </a:p>
        </p:txBody>
      </p:sp>
      <p:sp>
        <p:nvSpPr>
          <p:cNvPr id="6" name="Text 4"/>
          <p:cNvSpPr/>
          <p:nvPr/>
        </p:nvSpPr>
        <p:spPr>
          <a:xfrm>
            <a:off x="822960" y="4754880"/>
            <a:ext cx="10515600" cy="1051560"/>
          </a:xfrm>
          <a:prstGeom prst="rect">
            <a:avLst/>
          </a:prstGeom>
          <a:noFill/>
          <a:ln/>
        </p:spPr>
        <p:txBody>
          <a:bodyPr wrap="square" lIns="0" tIns="0" rIns="0" bIns="0" rtlCol="0" anchor="ctr"/>
          <a:lstStyle/>
          <a:p>
            <a:pPr marL="0" indent="0" algn="ctr">
              <a:buNone/>
            </a:pPr>
            <a:r>
              <a:rPr lang="en-US" sz="1700" dirty="0">
                <a:solidFill>
                  <a:srgbClr val="F0F0F0"/>
                </a:solidFill>
                <a:latin typeface="Courier New" pitchFamily="34" charset="0"/>
                <a:ea typeface="Courier New" pitchFamily="34" charset="-122"/>
                <a:cs typeface="Courier New" pitchFamily="34" charset="-120"/>
              </a:rPr>
              <a:t>25CIV60102KCX</a:t>
            </a:r>
            <a:r>
              <a:rPr lang="en-US" sz="1700" dirty="0">
                <a:solidFill>
                  <a:srgbClr val="2A2A2A"/>
                </a:solidFill>
                <a:latin typeface="Courier New" pitchFamily="34" charset="0"/>
                <a:ea typeface="Courier New" pitchFamily="34" charset="-122"/>
                <a:cs typeface="Courier New" pitchFamily="34" charset="-120"/>
              </a:rPr>
              <a:t>   │   </a:t>
            </a:r>
            <a:r>
              <a:rPr lang="en-US" sz="1700" dirty="0">
                <a:solidFill>
                  <a:srgbClr val="C8C8C8"/>
                </a:solidFill>
                <a:latin typeface="Courier New" pitchFamily="34" charset="0"/>
                <a:ea typeface="Courier New" pitchFamily="34" charset="-122"/>
                <a:cs typeface="Courier New" pitchFamily="34" charset="-120"/>
              </a:rPr>
              <a:t>King County District Court</a:t>
            </a:r>
            <a:r>
              <a:rPr lang="en-US" sz="1700" dirty="0">
                <a:solidFill>
                  <a:srgbClr val="2A2A2A"/>
                </a:solidFill>
                <a:latin typeface="Courier New" pitchFamily="34" charset="0"/>
                <a:ea typeface="Courier New" pitchFamily="34" charset="-122"/>
                <a:cs typeface="Courier New" pitchFamily="34" charset="-120"/>
              </a:rPr>
              <a:t>   │   </a:t>
            </a:r>
            <a:r>
              <a:rPr lang="en-US" sz="1700" b="1" dirty="0">
                <a:solidFill>
                  <a:srgbClr val="39FF14"/>
                </a:solidFill>
                <a:latin typeface="Courier New" pitchFamily="34" charset="0"/>
                <a:ea typeface="Courier New" pitchFamily="34" charset="-122"/>
                <a:cs typeface="Courier New" pitchFamily="34" charset="-120"/>
              </a:rPr>
              <a:t>JUDGMENT FOR PLAINTIFF</a:t>
            </a:r>
            <a:endParaRPr lang="en-US" sz="1700" dirty="0"/>
          </a:p>
        </p:txBody>
      </p:sp>
      <p:sp>
        <p:nvSpPr>
          <p:cNvPr id="7" name="Text 5"/>
          <p:cNvSpPr/>
          <p:nvPr/>
        </p:nvSpPr>
        <p:spPr>
          <a:xfrm>
            <a:off x="640080" y="6035040"/>
            <a:ext cx="10881360" cy="365760"/>
          </a:xfrm>
          <a:prstGeom prst="rect">
            <a:avLst/>
          </a:prstGeom>
          <a:noFill/>
          <a:ln/>
        </p:spPr>
        <p:txBody>
          <a:bodyPr wrap="square" lIns="0" tIns="0" rIns="0" bIns="0" rtlCol="0" anchor="ctr"/>
          <a:lstStyle/>
          <a:p>
            <a:pPr marL="0" indent="0">
              <a:buNone/>
            </a:pPr>
            <a:r>
              <a:rPr lang="en-US" sz="1500" dirty="0">
                <a:solidFill>
                  <a:srgbClr val="8A8A8A"/>
                </a:solidFill>
                <a:latin typeface="Courier New" pitchFamily="34" charset="0"/>
                <a:ea typeface="Courier New" pitchFamily="34" charset="-122"/>
                <a:cs typeface="Courier New" pitchFamily="34" charset="-120"/>
              </a:rPr>
              <a:t>Ken Hollis - GandalfDDI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b">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8A8A8A"/>
                </a:solidFill>
                <a:latin typeface="Courier New" pitchFamily="34" charset="0"/>
                <a:ea typeface="Courier New" pitchFamily="34" charset="-122"/>
                <a:cs typeface="Courier New" pitchFamily="34" charset="-120"/>
              </a:rPr>
              <a:t>25CIV60102KCX - King County District Court	Slide </a:t>
            </a:r>
            <a:fld id="{2B448913-C53B-4F43-82E6-B6264BA16375}" type="slidenum">
              <a:rPr lang="en-US" sz="1000" smtClean="0">
                <a:solidFill>
                  <a:srgbClr val="8A8A8A"/>
                </a:solidFill>
                <a:latin typeface="Courier New" pitchFamily="34" charset="0"/>
                <a:ea typeface="Courier New" pitchFamily="34" charset="-122"/>
                <a:cs typeface="Courier New" pitchFamily="34" charset="-120"/>
              </a:rPr>
              <a:t>2</a:t>
            </a:fld>
            <a:r>
              <a:rPr lang="en-US" sz="1000" dirty="0">
                <a:solidFill>
                  <a:srgbClr val="8A8A8A"/>
                </a:solidFill>
                <a:latin typeface="Courier New" pitchFamily="34" charset="0"/>
                <a:ea typeface="Courier New" pitchFamily="34" charset="-122"/>
                <a:cs typeface="Courier New" pitchFamily="34" charset="-120"/>
              </a:rPr>
              <a:t> </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DECONFLICT</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7" name="Text 5"/>
          <p:cNvSpPr/>
          <p:nvPr/>
        </p:nvSpPr>
        <p:spPr>
          <a:xfrm>
            <a:off x="822960" y="1069848"/>
            <a:ext cx="10607040" cy="685800"/>
          </a:xfrm>
          <a:prstGeom prst="rect">
            <a:avLst/>
          </a:prstGeom>
          <a:noFill/>
          <a:ln/>
        </p:spPr>
        <p:txBody>
          <a:bodyPr wrap="square" lIns="0" tIns="0" rIns="0" bIns="0" rtlCol="0" anchor="ctr"/>
          <a:lstStyle/>
          <a:p>
            <a:pPr marL="0" indent="0" algn="l">
              <a:buNone/>
            </a:pPr>
            <a:r>
              <a:rPr lang="en-US" sz="2400" dirty="0">
                <a:solidFill>
                  <a:srgbClr val="39FF14"/>
                </a:solidFill>
                <a:latin typeface="Courier New" pitchFamily="34" charset="0"/>
                <a:ea typeface="Courier New" pitchFamily="34" charset="-122"/>
                <a:cs typeface="Courier New" pitchFamily="34" charset="-120"/>
              </a:rPr>
              <a:t>› </a:t>
            </a:r>
            <a:r>
              <a:rPr lang="en-US" sz="2400" dirty="0">
                <a:solidFill>
                  <a:srgbClr val="C8C8C8"/>
                </a:solidFill>
                <a:latin typeface="Courier New" pitchFamily="34" charset="0"/>
                <a:ea typeface="Courier New" pitchFamily="34" charset="-122"/>
                <a:cs typeface="Courier New" pitchFamily="34" charset="-120"/>
              </a:rPr>
              <a:t>This is NOT the PaperCut exploit chain:</a:t>
            </a:r>
            <a:endParaRPr lang="en-US" sz="2400" dirty="0"/>
          </a:p>
        </p:txBody>
      </p:sp>
      <p:sp>
        <p:nvSpPr>
          <p:cNvPr id="8" name="Text 6"/>
          <p:cNvSpPr/>
          <p:nvPr/>
        </p:nvSpPr>
        <p:spPr>
          <a:xfrm>
            <a:off x="822960" y="1911096"/>
            <a:ext cx="10607040" cy="685800"/>
          </a:xfrm>
          <a:prstGeom prst="rect">
            <a:avLst/>
          </a:prstGeom>
          <a:noFill/>
          <a:ln/>
        </p:spPr>
        <p:txBody>
          <a:bodyPr wrap="square" lIns="0" tIns="0" rIns="0" bIns="0" rtlCol="0" anchor="ctr"/>
          <a:lstStyle/>
          <a:p>
            <a:pPr marL="0" indent="0" algn="l">
              <a:buNone/>
            </a:pPr>
            <a:r>
              <a:rPr lang="en-US" sz="2400" dirty="0">
                <a:solidFill>
                  <a:srgbClr val="39FF14"/>
                </a:solidFill>
                <a:latin typeface="Courier New" pitchFamily="34" charset="0"/>
                <a:ea typeface="Courier New" pitchFamily="34" charset="-122"/>
                <a:cs typeface="Courier New" pitchFamily="34" charset="-120"/>
              </a:rPr>
              <a:t>  </a:t>
            </a:r>
            <a:r>
              <a:rPr lang="en-US" sz="2400" b="1" dirty="0">
                <a:solidFill>
                  <a:srgbClr val="F0F0F0"/>
                </a:solidFill>
                <a:latin typeface="Courier New" pitchFamily="34" charset="0"/>
                <a:ea typeface="Courier New" pitchFamily="34" charset="-122"/>
                <a:cs typeface="Courier New" pitchFamily="34" charset="-120"/>
              </a:rPr>
              <a:t>CVE-2026-81578 + CVE-2026-82078</a:t>
            </a:r>
            <a:endParaRPr lang="en-US" sz="2400" dirty="0"/>
          </a:p>
        </p:txBody>
      </p:sp>
      <p:sp>
        <p:nvSpPr>
          <p:cNvPr id="9" name="Text 7"/>
          <p:cNvSpPr/>
          <p:nvPr/>
        </p:nvSpPr>
        <p:spPr>
          <a:xfrm>
            <a:off x="822960" y="2752344"/>
            <a:ext cx="10607040" cy="685800"/>
          </a:xfrm>
          <a:prstGeom prst="rect">
            <a:avLst/>
          </a:prstGeom>
          <a:noFill/>
          <a:ln/>
        </p:spPr>
        <p:txBody>
          <a:bodyPr wrap="square" lIns="0" tIns="0" rIns="0" bIns="0" rtlCol="0" anchor="ctr"/>
          <a:lstStyle/>
          <a:p>
            <a:pPr marL="0" indent="0" algn="l">
              <a:buNone/>
            </a:pPr>
            <a:r>
              <a:rPr lang="en-US" sz="2400" dirty="0">
                <a:solidFill>
                  <a:srgbClr val="39FF14"/>
                </a:solidFill>
                <a:latin typeface="Courier New" pitchFamily="34" charset="0"/>
                <a:ea typeface="Courier New" pitchFamily="34" charset="-122"/>
                <a:cs typeface="Courier New" pitchFamily="34" charset="-120"/>
              </a:rPr>
              <a:t>› </a:t>
            </a:r>
            <a:r>
              <a:rPr lang="en-US" sz="2400" dirty="0">
                <a:solidFill>
                  <a:srgbClr val="C8C8C8"/>
                </a:solidFill>
                <a:latin typeface="Courier New" pitchFamily="34" charset="0"/>
                <a:ea typeface="Courier New" pitchFamily="34" charset="-122"/>
                <a:cs typeface="Courier New" pitchFamily="34" charset="-120"/>
              </a:rPr>
              <a:t>No printers were harmed.</a:t>
            </a:r>
            <a:endParaRPr lang="en-US" sz="2400" dirty="0"/>
          </a:p>
        </p:txBody>
      </p:sp>
      <p:sp>
        <p:nvSpPr>
          <p:cNvPr id="10" name="Text 8"/>
          <p:cNvSpPr/>
          <p:nvPr/>
        </p:nvSpPr>
        <p:spPr>
          <a:xfrm>
            <a:off x="822960" y="3593592"/>
            <a:ext cx="10607040" cy="685800"/>
          </a:xfrm>
          <a:prstGeom prst="rect">
            <a:avLst/>
          </a:prstGeom>
          <a:noFill/>
          <a:ln/>
        </p:spPr>
        <p:txBody>
          <a:bodyPr wrap="square" lIns="0" tIns="0" rIns="0" bIns="0" rtlCol="0" anchor="ctr"/>
          <a:lstStyle/>
          <a:p>
            <a:pPr marL="0" indent="0" algn="l">
              <a:buNone/>
            </a:pPr>
            <a:r>
              <a:rPr lang="en-US" sz="2400" dirty="0">
                <a:solidFill>
                  <a:srgbClr val="39FF14"/>
                </a:solidFill>
                <a:latin typeface="Courier New" pitchFamily="34" charset="0"/>
                <a:ea typeface="Courier New" pitchFamily="34" charset="-122"/>
                <a:cs typeface="Courier New" pitchFamily="34" charset="-120"/>
              </a:rPr>
              <a:t>› </a:t>
            </a:r>
            <a:r>
              <a:rPr lang="en-US" sz="2400" b="1" dirty="0">
                <a:solidFill>
                  <a:srgbClr val="39FF14"/>
                </a:solidFill>
                <a:latin typeface="Courier New" pitchFamily="34" charset="0"/>
                <a:ea typeface="Courier New" pitchFamily="34" charset="-122"/>
                <a:cs typeface="Courier New" pitchFamily="34" charset="-120"/>
              </a:rPr>
              <a:t>Different kind of paper cut.</a:t>
            </a:r>
            <a:endParaRPr lang="en-US" sz="2400" dirty="0"/>
          </a:p>
        </p:txBody>
      </p:sp>
      <p:sp>
        <p:nvSpPr>
          <p:cNvPr id="11" name="Text 9"/>
          <p:cNvSpPr/>
          <p:nvPr/>
        </p:nvSpPr>
        <p:spPr>
          <a:xfrm>
            <a:off x="822960" y="4617720"/>
            <a:ext cx="10607040" cy="502920"/>
          </a:xfrm>
          <a:prstGeom prst="rect">
            <a:avLst/>
          </a:prstGeom>
          <a:noFill/>
          <a:ln/>
        </p:spPr>
        <p:txBody>
          <a:bodyPr wrap="square" lIns="0" tIns="0" rIns="0" bIns="0" rtlCol="0" anchor="ctr"/>
          <a:lstStyle/>
          <a:p>
            <a:pPr marL="0" indent="0">
              <a:buNone/>
            </a:pPr>
            <a:r>
              <a:rPr lang="en-US" sz="2000" i="1" dirty="0">
                <a:solidFill>
                  <a:srgbClr val="FFB300"/>
                </a:solidFill>
                <a:latin typeface="Courier New" pitchFamily="34" charset="0"/>
                <a:ea typeface="Courier New" pitchFamily="34" charset="-122"/>
                <a:cs typeface="Courier New" pitchFamily="34" charset="-120"/>
              </a:rPr>
              <a:t>PaperCut NG/MF pre-auth RCE – CISA KEV, Aug 2026. Patch anyway.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3</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WHO AM I</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20"/>
            <a:ext cx="11091672" cy="731520"/>
          </a:xfrm>
          <a:prstGeom prst="rect">
            <a:avLst/>
          </a:prstGeom>
          <a:noFill/>
          <a:ln/>
        </p:spPr>
        <p:txBody>
          <a:bodyPr wrap="square" lIns="0" tIns="0" rIns="0" bIns="0" rtlCol="0" anchor="ctr"/>
          <a:lstStyle/>
          <a:p>
            <a:pPr marL="0" indent="0" algn="l">
              <a:buNone/>
            </a:pPr>
            <a:r>
              <a:rPr lang="en-US" sz="3000" b="1" dirty="0">
                <a:solidFill>
                  <a:srgbClr val="F0F0F0"/>
                </a:solidFill>
                <a:latin typeface="Courier New" pitchFamily="34" charset="0"/>
                <a:ea typeface="Courier New" pitchFamily="34" charset="-122"/>
                <a:cs typeface="Courier New" pitchFamily="34" charset="-120"/>
              </a:rPr>
              <a:t>Not a lawyer. Won anyway.</a:t>
            </a:r>
            <a:endParaRPr lang="en-US" sz="3000" dirty="0"/>
          </a:p>
        </p:txBody>
      </p:sp>
      <p:sp>
        <p:nvSpPr>
          <p:cNvPr id="7" name="Text 5"/>
          <p:cNvSpPr/>
          <p:nvPr/>
        </p:nvSpPr>
        <p:spPr>
          <a:xfrm>
            <a:off x="822960" y="2011680"/>
            <a:ext cx="10607040" cy="502920"/>
          </a:xfrm>
          <a:prstGeom prst="rect">
            <a:avLst/>
          </a:prstGeom>
          <a:noFill/>
          <a:ln/>
        </p:spPr>
        <p:txBody>
          <a:bodyPr wrap="square" lIns="0" tIns="0" rIns="0" bIns="0" rtlCol="0" anchor="ctr"/>
          <a:lstStyle/>
          <a:p>
            <a:pPr marL="0" indent="0">
              <a:buNone/>
            </a:pPr>
            <a:r>
              <a:rPr lang="en-US" sz="1900" dirty="0">
                <a:solidFill>
                  <a:srgbClr val="39FF14"/>
                </a:solidFill>
                <a:latin typeface="Courier New" pitchFamily="34" charset="0"/>
                <a:ea typeface="Courier New" pitchFamily="34" charset="-122"/>
                <a:cs typeface="Courier New" pitchFamily="34" charset="-120"/>
              </a:rPr>
              <a:t>› </a:t>
            </a:r>
            <a:r>
              <a:rPr lang="en-US" sz="1900" dirty="0">
                <a:solidFill>
                  <a:srgbClr val="C8C8C8"/>
                </a:solidFill>
                <a:latin typeface="Courier New" pitchFamily="34" charset="0"/>
                <a:ea typeface="Courier New" pitchFamily="34" charset="-122"/>
                <a:cs typeface="Courier New" pitchFamily="34" charset="-120"/>
              </a:rPr>
              <a:t>40 years in technology, started with punch cards, no Internet</a:t>
            </a:r>
            <a:endParaRPr lang="en-US" sz="1900" dirty="0"/>
          </a:p>
        </p:txBody>
      </p:sp>
      <p:sp>
        <p:nvSpPr>
          <p:cNvPr id="8" name="Text 6"/>
          <p:cNvSpPr/>
          <p:nvPr/>
        </p:nvSpPr>
        <p:spPr>
          <a:xfrm>
            <a:off x="822960" y="2670048"/>
            <a:ext cx="10607040" cy="502920"/>
          </a:xfrm>
          <a:prstGeom prst="rect">
            <a:avLst/>
          </a:prstGeom>
          <a:noFill/>
          <a:ln/>
        </p:spPr>
        <p:txBody>
          <a:bodyPr wrap="square" lIns="0" tIns="0" rIns="0" bIns="0" rtlCol="0" anchor="ctr"/>
          <a:lstStyle/>
          <a:p>
            <a:pPr marL="0" indent="0">
              <a:buNone/>
            </a:pPr>
            <a:r>
              <a:rPr lang="en-US" sz="1900" dirty="0">
                <a:solidFill>
                  <a:srgbClr val="39FF14"/>
                </a:solidFill>
                <a:latin typeface="Courier New" pitchFamily="34" charset="0"/>
                <a:ea typeface="Courier New" pitchFamily="34" charset="-122"/>
                <a:cs typeface="Courier New" pitchFamily="34" charset="-120"/>
              </a:rPr>
              <a:t>› </a:t>
            </a:r>
            <a:r>
              <a:rPr lang="en-US" sz="1900" dirty="0">
                <a:solidFill>
                  <a:srgbClr val="C8C8C8"/>
                </a:solidFill>
                <a:latin typeface="Courier New" pitchFamily="34" charset="0"/>
                <a:ea typeface="Courier New" pitchFamily="34" charset="-122"/>
                <a:cs typeface="Courier New" pitchFamily="34" charset="-120"/>
              </a:rPr>
              <a:t>Kennedy Space Center - Shuttle launch operations</a:t>
            </a:r>
            <a:endParaRPr lang="en-US" sz="1900" dirty="0"/>
          </a:p>
        </p:txBody>
      </p:sp>
      <p:sp>
        <p:nvSpPr>
          <p:cNvPr id="9" name="Text 7"/>
          <p:cNvSpPr/>
          <p:nvPr/>
        </p:nvSpPr>
        <p:spPr>
          <a:xfrm>
            <a:off x="822960" y="3328416"/>
            <a:ext cx="10607040" cy="502920"/>
          </a:xfrm>
          <a:prstGeom prst="rect">
            <a:avLst/>
          </a:prstGeom>
          <a:noFill/>
          <a:ln/>
        </p:spPr>
        <p:txBody>
          <a:bodyPr wrap="square" lIns="0" tIns="0" rIns="0" bIns="0" rtlCol="0" anchor="ctr"/>
          <a:lstStyle/>
          <a:p>
            <a:pPr marL="0" indent="0">
              <a:buNone/>
            </a:pPr>
            <a:r>
              <a:rPr lang="en-US" sz="1900" dirty="0">
                <a:solidFill>
                  <a:srgbClr val="39FF14"/>
                </a:solidFill>
                <a:latin typeface="Courier New" pitchFamily="34" charset="0"/>
                <a:ea typeface="Courier New" pitchFamily="34" charset="-122"/>
                <a:cs typeface="Courier New" pitchFamily="34" charset="-120"/>
              </a:rPr>
              <a:t>› </a:t>
            </a:r>
            <a:r>
              <a:rPr lang="en-US" sz="1900" dirty="0">
                <a:solidFill>
                  <a:srgbClr val="C8C8C8"/>
                </a:solidFill>
                <a:latin typeface="Courier New" pitchFamily="34" charset="0"/>
                <a:ea typeface="Courier New" pitchFamily="34" charset="-122"/>
                <a:cs typeface="Courier New" pitchFamily="34" charset="-120"/>
              </a:rPr>
              <a:t>Enterprise networking, SCADA/ICS</a:t>
            </a:r>
            <a:endParaRPr lang="en-US" sz="1900" dirty="0"/>
          </a:p>
        </p:txBody>
      </p:sp>
      <p:sp>
        <p:nvSpPr>
          <p:cNvPr id="10" name="Text 8"/>
          <p:cNvSpPr/>
          <p:nvPr/>
        </p:nvSpPr>
        <p:spPr>
          <a:xfrm>
            <a:off x="822960" y="3986784"/>
            <a:ext cx="10607040" cy="502920"/>
          </a:xfrm>
          <a:prstGeom prst="rect">
            <a:avLst/>
          </a:prstGeom>
          <a:noFill/>
          <a:ln/>
        </p:spPr>
        <p:txBody>
          <a:bodyPr wrap="square" lIns="0" tIns="0" rIns="0" bIns="0" rtlCol="0" anchor="ctr"/>
          <a:lstStyle/>
          <a:p>
            <a:pPr marL="0" indent="0">
              <a:buNone/>
            </a:pPr>
            <a:r>
              <a:rPr lang="en-US" sz="1900" dirty="0">
                <a:solidFill>
                  <a:srgbClr val="39FF14"/>
                </a:solidFill>
                <a:latin typeface="Courier New" pitchFamily="34" charset="0"/>
                <a:ea typeface="Courier New" pitchFamily="34" charset="-122"/>
                <a:cs typeface="Courier New" pitchFamily="34" charset="-120"/>
              </a:rPr>
              <a:t>› </a:t>
            </a:r>
            <a:r>
              <a:rPr lang="en-US" sz="1900" dirty="0">
                <a:solidFill>
                  <a:srgbClr val="C8C8C8"/>
                </a:solidFill>
                <a:latin typeface="Courier New" pitchFamily="34" charset="0"/>
                <a:ea typeface="Courier New" pitchFamily="34" charset="-122"/>
                <a:cs typeface="Courier New" pitchFamily="34" charset="-120"/>
              </a:rPr>
              <a:t>18 years Microsoft - 11 in security engineering (CDOC, critical infrastructure)</a:t>
            </a:r>
            <a:endParaRPr lang="en-US" sz="1900" dirty="0"/>
          </a:p>
        </p:txBody>
      </p:sp>
      <p:sp>
        <p:nvSpPr>
          <p:cNvPr id="11" name="Text 9"/>
          <p:cNvSpPr/>
          <p:nvPr/>
        </p:nvSpPr>
        <p:spPr>
          <a:xfrm>
            <a:off x="822960" y="4645152"/>
            <a:ext cx="10607040" cy="502920"/>
          </a:xfrm>
          <a:prstGeom prst="rect">
            <a:avLst/>
          </a:prstGeom>
          <a:noFill/>
          <a:ln/>
        </p:spPr>
        <p:txBody>
          <a:bodyPr wrap="square" lIns="0" tIns="0" rIns="0" bIns="0" rtlCol="0" anchor="ctr"/>
          <a:lstStyle/>
          <a:p>
            <a:pPr marL="0" indent="0">
              <a:buNone/>
            </a:pPr>
            <a:r>
              <a:rPr lang="en-US" sz="1900" dirty="0">
                <a:solidFill>
                  <a:srgbClr val="39FF14"/>
                </a:solidFill>
                <a:latin typeface="Courier New" pitchFamily="34" charset="0"/>
                <a:ea typeface="Courier New" pitchFamily="34" charset="-122"/>
                <a:cs typeface="Courier New" pitchFamily="34" charset="-120"/>
              </a:rPr>
              <a:t>› </a:t>
            </a:r>
            <a:r>
              <a:rPr lang="en-US" sz="1900" dirty="0">
                <a:solidFill>
                  <a:srgbClr val="C8C8C8"/>
                </a:solidFill>
                <a:latin typeface="Courier New" pitchFamily="34" charset="0"/>
                <a:ea typeface="Courier New" pitchFamily="34" charset="-122"/>
                <a:cs typeface="Courier New" pitchFamily="34" charset="-120"/>
              </a:rPr>
              <a:t>Retired, PNW, rides motorcycles year-round</a:t>
            </a:r>
            <a:endParaRPr lang="en-US" sz="1900" dirty="0"/>
          </a:p>
        </p:txBody>
      </p:sp>
      <p:sp>
        <p:nvSpPr>
          <p:cNvPr id="12" name="Text 10"/>
          <p:cNvSpPr/>
          <p:nvPr/>
        </p:nvSpPr>
        <p:spPr>
          <a:xfrm>
            <a:off x="822960" y="5577840"/>
            <a:ext cx="10607040" cy="457200"/>
          </a:xfrm>
          <a:prstGeom prst="rect">
            <a:avLst/>
          </a:prstGeom>
          <a:noFill/>
          <a:ln/>
        </p:spPr>
        <p:txBody>
          <a:bodyPr wrap="square" lIns="0" tIns="0" rIns="0" bIns="0" rtlCol="0" anchor="ctr"/>
          <a:lstStyle/>
          <a:p>
            <a:pPr marL="0" indent="0">
              <a:buNone/>
            </a:pPr>
            <a:r>
              <a:rPr lang="en-US" sz="1500" i="1" dirty="0">
                <a:solidFill>
                  <a:srgbClr val="8A8A8A"/>
                </a:solidFill>
                <a:latin typeface="Courier New" pitchFamily="34" charset="0"/>
                <a:ea typeface="Courier New" pitchFamily="34" charset="-122"/>
                <a:cs typeface="Courier New" pitchFamily="34" charset="-120"/>
              </a:rPr>
              <a:t>IANAL - I Am NOT A Lawyer. This is documented experience, not legal advice.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4</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BREACH</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68960" y="986536"/>
            <a:ext cx="8554720" cy="731520"/>
          </a:xfrm>
          <a:prstGeom prst="rect">
            <a:avLst/>
          </a:prstGeom>
          <a:noFill/>
          <a:ln/>
        </p:spPr>
        <p:txBody>
          <a:bodyPr wrap="square" lIns="0" tIns="0" rIns="0" bIns="0" rtlCol="0" anchor="ctr"/>
          <a:lstStyle/>
          <a:p>
            <a:r>
              <a:rPr lang="en-US" sz="3000" b="1" dirty="0">
                <a:solidFill>
                  <a:srgbClr val="F0F0F0"/>
                </a:solidFill>
                <a:latin typeface="Courier New" pitchFamily="34" charset="0"/>
                <a:ea typeface="Courier New" pitchFamily="34" charset="-122"/>
                <a:cs typeface="Courier New" pitchFamily="34" charset="-120"/>
              </a:rPr>
              <a:t>Cl0p / MOVEit (CVE-2023-34362) and</a:t>
            </a:r>
            <a:br>
              <a:rPr lang="en-US" sz="3000" b="1" dirty="0">
                <a:solidFill>
                  <a:srgbClr val="F0F0F0"/>
                </a:solidFill>
                <a:latin typeface="Courier New" pitchFamily="34" charset="0"/>
                <a:ea typeface="Courier New" pitchFamily="34" charset="-122"/>
                <a:cs typeface="Courier New" pitchFamily="34" charset="-120"/>
              </a:rPr>
            </a:br>
            <a:r>
              <a:rPr lang="en-US" sz="3000" b="1" dirty="0">
                <a:solidFill>
                  <a:srgbClr val="F0F0F0"/>
                </a:solidFill>
                <a:latin typeface="Courier New" pitchFamily="34" charset="0"/>
                <a:ea typeface="Courier New" pitchFamily="34" charset="-122"/>
                <a:cs typeface="Courier New" pitchFamily="34" charset="-120"/>
              </a:rPr>
              <a:t> Pension Benefit Information, LLC</a:t>
            </a:r>
            <a:endParaRPr lang="en-US" sz="3000" dirty="0"/>
          </a:p>
        </p:txBody>
      </p:sp>
      <p:sp>
        <p:nvSpPr>
          <p:cNvPr id="7" name="Text 5"/>
          <p:cNvSpPr/>
          <p:nvPr/>
        </p:nvSpPr>
        <p:spPr>
          <a:xfrm>
            <a:off x="822960" y="1828800"/>
            <a:ext cx="10607040" cy="914400"/>
          </a:xfrm>
          <a:prstGeom prst="rect">
            <a:avLst/>
          </a:prstGeom>
          <a:noFill/>
          <a:ln/>
        </p:spPr>
        <p:txBody>
          <a:bodyPr wrap="square" lIns="0" tIns="0" rIns="0" bIns="0" rtlCol="0" anchor="ctr"/>
          <a:lstStyle/>
          <a:p>
            <a:pPr marL="0" indent="0">
              <a:buNone/>
            </a:pPr>
            <a:r>
              <a:rPr lang="en-US" sz="1800" dirty="0">
                <a:solidFill>
                  <a:srgbClr val="C8C8C8"/>
                </a:solidFill>
                <a:latin typeface="Courier New" pitchFamily="34" charset="0"/>
                <a:ea typeface="Courier New" pitchFamily="34" charset="-122"/>
                <a:cs typeface="Courier New" pitchFamily="34" charset="-120"/>
              </a:rPr>
              <a:t>A Minneapolis data broker holding PII I never gave them directly.</a:t>
            </a:r>
            <a:endParaRPr lang="en-US" sz="1800" dirty="0"/>
          </a:p>
          <a:p>
            <a:pPr marL="0" indent="0">
              <a:buNone/>
            </a:pPr>
            <a:r>
              <a:rPr lang="en-US" sz="1800" dirty="0">
                <a:solidFill>
                  <a:srgbClr val="C8C8C8"/>
                </a:solidFill>
                <a:latin typeface="Courier New" pitchFamily="34" charset="0"/>
                <a:ea typeface="Courier New" pitchFamily="34" charset="-122"/>
                <a:cs typeface="Courier New" pitchFamily="34" charset="-120"/>
              </a:rPr>
              <a:t>Lost: name, Social Security Number, date of birth.</a:t>
            </a:r>
            <a:endParaRPr lang="en-US" sz="1800" dirty="0"/>
          </a:p>
        </p:txBody>
      </p:sp>
      <p:sp>
        <p:nvSpPr>
          <p:cNvPr id="8" name="Shape 6"/>
          <p:cNvSpPr/>
          <p:nvPr/>
        </p:nvSpPr>
        <p:spPr>
          <a:xfrm>
            <a:off x="1280160" y="3017520"/>
            <a:ext cx="4389120" cy="2103120"/>
          </a:xfrm>
          <a:prstGeom prst="rect">
            <a:avLst/>
          </a:prstGeom>
          <a:solidFill>
            <a:srgbClr val="111111"/>
          </a:solidFill>
          <a:ln w="12700">
            <a:solidFill>
              <a:srgbClr val="FF3A3A"/>
            </a:solidFill>
            <a:prstDash val="solid"/>
          </a:ln>
        </p:spPr>
        <p:txBody>
          <a:bodyPr/>
          <a:lstStyle/>
          <a:p>
            <a:endParaRPr lang="en-US"/>
          </a:p>
        </p:txBody>
      </p:sp>
      <p:sp>
        <p:nvSpPr>
          <p:cNvPr id="9" name="Text 7"/>
          <p:cNvSpPr/>
          <p:nvPr/>
        </p:nvSpPr>
        <p:spPr>
          <a:xfrm>
            <a:off x="1280160" y="3246120"/>
            <a:ext cx="4389120" cy="1097280"/>
          </a:xfrm>
          <a:prstGeom prst="rect">
            <a:avLst/>
          </a:prstGeom>
          <a:noFill/>
          <a:ln/>
        </p:spPr>
        <p:txBody>
          <a:bodyPr wrap="square" lIns="0" tIns="0" rIns="0" bIns="0" rtlCol="0" anchor="ctr"/>
          <a:lstStyle/>
          <a:p>
            <a:pPr marL="0" indent="0" algn="ctr">
              <a:buNone/>
            </a:pPr>
            <a:r>
              <a:rPr lang="en-US" sz="6600" b="1" dirty="0">
                <a:solidFill>
                  <a:srgbClr val="FF3A3A"/>
                </a:solidFill>
                <a:latin typeface="Courier New" pitchFamily="34" charset="0"/>
                <a:ea typeface="Courier New" pitchFamily="34" charset="-122"/>
                <a:cs typeface="Courier New" pitchFamily="34" charset="-120"/>
              </a:rPr>
              <a:t>42</a:t>
            </a:r>
            <a:endParaRPr lang="en-US" sz="6600" dirty="0"/>
          </a:p>
        </p:txBody>
      </p:sp>
      <p:sp>
        <p:nvSpPr>
          <p:cNvPr id="10" name="Text 8"/>
          <p:cNvSpPr/>
          <p:nvPr/>
        </p:nvSpPr>
        <p:spPr>
          <a:xfrm>
            <a:off x="1280160" y="4434840"/>
            <a:ext cx="4389120" cy="457200"/>
          </a:xfrm>
          <a:prstGeom prst="rect">
            <a:avLst/>
          </a:prstGeom>
          <a:noFill/>
          <a:ln/>
        </p:spPr>
        <p:txBody>
          <a:bodyPr wrap="square" lIns="0" tIns="0" rIns="0" bIns="0" rtlCol="0" anchor="ctr"/>
          <a:lstStyle/>
          <a:p>
            <a:pPr marL="0" indent="0" algn="ctr">
              <a:buNone/>
            </a:pPr>
            <a:r>
              <a:rPr lang="en-US" sz="1500" dirty="0">
                <a:solidFill>
                  <a:srgbClr val="C8C8C8"/>
                </a:solidFill>
                <a:latin typeface="Courier New" pitchFamily="34" charset="0"/>
                <a:ea typeface="Courier New" pitchFamily="34" charset="-122"/>
                <a:cs typeface="Courier New" pitchFamily="34" charset="-120"/>
              </a:rPr>
              <a:t>days to notify me, per the judgment</a:t>
            </a:r>
            <a:endParaRPr lang="en-US" sz="1500" dirty="0"/>
          </a:p>
        </p:txBody>
      </p:sp>
      <p:sp>
        <p:nvSpPr>
          <p:cNvPr id="11" name="Shape 9"/>
          <p:cNvSpPr/>
          <p:nvPr/>
        </p:nvSpPr>
        <p:spPr>
          <a:xfrm>
            <a:off x="6492240" y="3017520"/>
            <a:ext cx="4389120" cy="2103120"/>
          </a:xfrm>
          <a:prstGeom prst="rect">
            <a:avLst/>
          </a:prstGeom>
          <a:solidFill>
            <a:srgbClr val="111111"/>
          </a:solidFill>
          <a:ln w="12700">
            <a:solidFill>
              <a:srgbClr val="39FF14"/>
            </a:solidFill>
            <a:prstDash val="solid"/>
          </a:ln>
        </p:spPr>
        <p:txBody>
          <a:bodyPr/>
          <a:lstStyle/>
          <a:p>
            <a:endParaRPr lang="en-US"/>
          </a:p>
        </p:txBody>
      </p:sp>
      <p:sp>
        <p:nvSpPr>
          <p:cNvPr id="12" name="Text 10"/>
          <p:cNvSpPr/>
          <p:nvPr/>
        </p:nvSpPr>
        <p:spPr>
          <a:xfrm>
            <a:off x="6492240" y="3246120"/>
            <a:ext cx="4389120" cy="1097280"/>
          </a:xfrm>
          <a:prstGeom prst="rect">
            <a:avLst/>
          </a:prstGeom>
          <a:noFill/>
          <a:ln/>
        </p:spPr>
        <p:txBody>
          <a:bodyPr wrap="square" lIns="0" tIns="0" rIns="0" bIns="0" rtlCol="0" anchor="ctr"/>
          <a:lstStyle/>
          <a:p>
            <a:pPr marL="0" indent="0" algn="ctr">
              <a:buNone/>
            </a:pPr>
            <a:r>
              <a:rPr lang="en-US" sz="6600" b="1" dirty="0">
                <a:solidFill>
                  <a:srgbClr val="39FF14"/>
                </a:solidFill>
                <a:latin typeface="Courier New" pitchFamily="34" charset="0"/>
                <a:ea typeface="Courier New" pitchFamily="34" charset="-122"/>
                <a:cs typeface="Courier New" pitchFamily="34" charset="-120"/>
              </a:rPr>
              <a:t>30</a:t>
            </a:r>
            <a:endParaRPr lang="en-US" sz="6600" dirty="0"/>
          </a:p>
        </p:txBody>
      </p:sp>
      <p:sp>
        <p:nvSpPr>
          <p:cNvPr id="13" name="Text 11"/>
          <p:cNvSpPr/>
          <p:nvPr/>
        </p:nvSpPr>
        <p:spPr>
          <a:xfrm>
            <a:off x="6492240" y="4434840"/>
            <a:ext cx="4389120" cy="457200"/>
          </a:xfrm>
          <a:prstGeom prst="rect">
            <a:avLst/>
          </a:prstGeom>
          <a:noFill/>
          <a:ln/>
        </p:spPr>
        <p:txBody>
          <a:bodyPr wrap="square" lIns="0" tIns="0" rIns="0" bIns="0" rtlCol="0" anchor="ctr"/>
          <a:lstStyle/>
          <a:p>
            <a:pPr marL="0" indent="0" algn="ctr">
              <a:buNone/>
            </a:pPr>
            <a:r>
              <a:rPr lang="en-US" sz="1500" dirty="0">
                <a:solidFill>
                  <a:srgbClr val="C8C8C8"/>
                </a:solidFill>
                <a:latin typeface="Courier New" pitchFamily="34" charset="0"/>
                <a:ea typeface="Courier New" pitchFamily="34" charset="-122"/>
                <a:cs typeface="Courier New" pitchFamily="34" charset="-120"/>
              </a:rPr>
              <a:t>days allowed by Washington law</a:t>
            </a:r>
            <a:endParaRPr lang="en-US" sz="1500" dirty="0"/>
          </a:p>
        </p:txBody>
      </p:sp>
      <p:sp>
        <p:nvSpPr>
          <p:cNvPr id="14" name="Text 12"/>
          <p:cNvSpPr/>
          <p:nvPr/>
        </p:nvSpPr>
        <p:spPr>
          <a:xfrm>
            <a:off x="1005840" y="5532120"/>
            <a:ext cx="10312400" cy="457200"/>
          </a:xfrm>
          <a:prstGeom prst="rect">
            <a:avLst/>
          </a:prstGeom>
          <a:noFill/>
          <a:ln/>
        </p:spPr>
        <p:txBody>
          <a:bodyPr wrap="square" lIns="0" tIns="0" rIns="0" bIns="0" rtlCol="0" anchor="ctr"/>
          <a:lstStyle/>
          <a:p>
            <a:pPr marL="0" indent="0">
              <a:buNone/>
            </a:pPr>
            <a:r>
              <a:rPr lang="en-US" sz="1500" dirty="0">
                <a:solidFill>
                  <a:srgbClr val="FFB300"/>
                </a:solidFill>
                <a:latin typeface="Courier New" pitchFamily="34" charset="0"/>
                <a:ea typeface="Courier New" pitchFamily="34" charset="-122"/>
                <a:cs typeface="Courier New" pitchFamily="34" charset="-120"/>
              </a:rPr>
              <a:t>Washington State RCW 19.255.010 - PBI filed the breach notice with the WA Attorney General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5</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INVOICE</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20"/>
            <a:ext cx="11091672" cy="731520"/>
          </a:xfrm>
          <a:prstGeom prst="rect">
            <a:avLst/>
          </a:prstGeom>
          <a:noFill/>
          <a:ln/>
        </p:spPr>
        <p:txBody>
          <a:bodyPr wrap="square" lIns="0" tIns="0" rIns="0" bIns="0" rtlCol="0" anchor="ctr"/>
          <a:lstStyle/>
          <a:p>
            <a:pPr marL="0" indent="0" algn="l">
              <a:buNone/>
            </a:pPr>
            <a:r>
              <a:rPr lang="en-US" sz="3000" b="1" dirty="0">
                <a:solidFill>
                  <a:srgbClr val="F0F0F0"/>
                </a:solidFill>
                <a:latin typeface="Courier New" pitchFamily="34" charset="0"/>
                <a:ea typeface="Courier New" pitchFamily="34" charset="-122"/>
                <a:cs typeface="Courier New" pitchFamily="34" charset="-120"/>
              </a:rPr>
              <a:t>I billed them for my time.</a:t>
            </a:r>
            <a:endParaRPr lang="en-US" sz="3000" dirty="0"/>
          </a:p>
        </p:txBody>
      </p:sp>
      <p:sp>
        <p:nvSpPr>
          <p:cNvPr id="7" name="Shape 5"/>
          <p:cNvSpPr/>
          <p:nvPr/>
        </p:nvSpPr>
        <p:spPr>
          <a:xfrm>
            <a:off x="3108960" y="1920240"/>
            <a:ext cx="5943600" cy="1828800"/>
          </a:xfrm>
          <a:prstGeom prst="rect">
            <a:avLst/>
          </a:prstGeom>
          <a:solidFill>
            <a:srgbClr val="111111"/>
          </a:solidFill>
          <a:ln w="12700">
            <a:solidFill>
              <a:srgbClr val="FFB300"/>
            </a:solidFill>
            <a:prstDash val="solid"/>
          </a:ln>
        </p:spPr>
        <p:txBody>
          <a:bodyPr/>
          <a:lstStyle/>
          <a:p>
            <a:endParaRPr lang="en-US"/>
          </a:p>
        </p:txBody>
      </p:sp>
      <p:sp>
        <p:nvSpPr>
          <p:cNvPr id="8" name="Text 6"/>
          <p:cNvSpPr/>
          <p:nvPr/>
        </p:nvSpPr>
        <p:spPr>
          <a:xfrm>
            <a:off x="3108960" y="2103120"/>
            <a:ext cx="5943600" cy="1005840"/>
          </a:xfrm>
          <a:prstGeom prst="rect">
            <a:avLst/>
          </a:prstGeom>
          <a:noFill/>
          <a:ln/>
        </p:spPr>
        <p:txBody>
          <a:bodyPr wrap="square" lIns="0" tIns="0" rIns="0" bIns="0" rtlCol="0" anchor="ctr"/>
          <a:lstStyle/>
          <a:p>
            <a:pPr marL="0" indent="0" algn="ctr">
              <a:buNone/>
            </a:pPr>
            <a:r>
              <a:rPr lang="en-US" sz="6000" b="1" dirty="0">
                <a:solidFill>
                  <a:srgbClr val="FFB300"/>
                </a:solidFill>
                <a:latin typeface="Courier New" pitchFamily="34" charset="0"/>
                <a:ea typeface="Courier New" pitchFamily="34" charset="-122"/>
                <a:cs typeface="Courier New" pitchFamily="34" charset="-120"/>
              </a:rPr>
              <a:t>$1,050</a:t>
            </a:r>
            <a:endParaRPr lang="en-US" sz="6000" dirty="0"/>
          </a:p>
        </p:txBody>
      </p:sp>
      <p:sp>
        <p:nvSpPr>
          <p:cNvPr id="9" name="Text 7"/>
          <p:cNvSpPr/>
          <p:nvPr/>
        </p:nvSpPr>
        <p:spPr>
          <a:xfrm>
            <a:off x="3108960" y="3154680"/>
            <a:ext cx="5943600" cy="411480"/>
          </a:xfrm>
          <a:prstGeom prst="rect">
            <a:avLst/>
          </a:prstGeom>
          <a:noFill/>
          <a:ln/>
        </p:spPr>
        <p:txBody>
          <a:bodyPr wrap="square" lIns="0" tIns="0" rIns="0" bIns="0" rtlCol="0" anchor="ctr"/>
          <a:lstStyle/>
          <a:p>
            <a:pPr marL="0" indent="0" algn="ctr">
              <a:buNone/>
            </a:pPr>
            <a:r>
              <a:rPr lang="en-US" sz="1400" dirty="0">
                <a:solidFill>
                  <a:srgbClr val="C8C8C8"/>
                </a:solidFill>
                <a:latin typeface="Courier New" pitchFamily="34" charset="0"/>
                <a:ea typeface="Courier New" pitchFamily="34" charset="-122"/>
                <a:cs typeface="Courier New" pitchFamily="34" charset="-120"/>
              </a:rPr>
              <a:t>documented remediation time, invoiced with a deadline</a:t>
            </a:r>
            <a:endParaRPr lang="en-US" sz="1400" dirty="0"/>
          </a:p>
        </p:txBody>
      </p:sp>
      <p:sp>
        <p:nvSpPr>
          <p:cNvPr id="10" name="Text 8"/>
          <p:cNvSpPr/>
          <p:nvPr/>
        </p:nvSpPr>
        <p:spPr>
          <a:xfrm>
            <a:off x="822960" y="4206240"/>
            <a:ext cx="10607040" cy="502920"/>
          </a:xfrm>
          <a:prstGeom prst="rect">
            <a:avLst/>
          </a:prstGeom>
          <a:noFill/>
          <a:ln/>
        </p:spPr>
        <p:txBody>
          <a:bodyPr wrap="square" lIns="0" tIns="0" rIns="0" bIns="0" rtlCol="0" anchor="ctr"/>
          <a:lstStyle/>
          <a:p>
            <a:pPr marL="0" indent="0">
              <a:buNone/>
            </a:pPr>
            <a:r>
              <a:rPr lang="en-US" sz="2200" dirty="0">
                <a:solidFill>
                  <a:srgbClr val="39FF14"/>
                </a:solidFill>
                <a:latin typeface="Courier New" pitchFamily="34" charset="0"/>
                <a:ea typeface="Courier New" pitchFamily="34" charset="-122"/>
                <a:cs typeface="Courier New" pitchFamily="34" charset="-120"/>
              </a:rPr>
              <a:t>› </a:t>
            </a:r>
            <a:r>
              <a:rPr lang="en-US" sz="2200" dirty="0">
                <a:solidFill>
                  <a:srgbClr val="C8C8C8"/>
                </a:solidFill>
                <a:latin typeface="Courier New" pitchFamily="34" charset="0"/>
                <a:ea typeface="Courier New" pitchFamily="34" charset="-122"/>
                <a:cs typeface="Courier New" pitchFamily="34" charset="-120"/>
              </a:rPr>
              <a:t>They refused. In writing.</a:t>
            </a:r>
            <a:endParaRPr lang="en-US" sz="2200" dirty="0"/>
          </a:p>
        </p:txBody>
      </p:sp>
      <p:sp>
        <p:nvSpPr>
          <p:cNvPr id="11" name="Text 9"/>
          <p:cNvSpPr/>
          <p:nvPr/>
        </p:nvSpPr>
        <p:spPr>
          <a:xfrm>
            <a:off x="822960" y="4892040"/>
            <a:ext cx="10607040" cy="914400"/>
          </a:xfrm>
          <a:prstGeom prst="rect">
            <a:avLst/>
          </a:prstGeom>
          <a:noFill/>
          <a:ln/>
        </p:spPr>
        <p:txBody>
          <a:bodyPr wrap="square" lIns="0" tIns="0" rIns="0" bIns="0" rtlCol="0" anchor="ctr"/>
          <a:lstStyle/>
          <a:p>
            <a:pPr marL="0" indent="0">
              <a:buNone/>
            </a:pPr>
            <a:r>
              <a:rPr lang="en-US" sz="1800" i="1" dirty="0">
                <a:solidFill>
                  <a:srgbClr val="FFB300"/>
                </a:solidFill>
                <a:latin typeface="Courier New" pitchFamily="34" charset="0"/>
                <a:ea typeface="Courier New" pitchFamily="34" charset="-122"/>
                <a:cs typeface="Courier New" pitchFamily="34" charset="-120"/>
              </a:rPr>
              <a:t>"They wouldn't pay" is the whole story in two seconds.</a:t>
            </a:r>
            <a:endParaRPr lang="en-US" sz="1800" dirty="0"/>
          </a:p>
          <a:p>
            <a:pPr marL="0" indent="0">
              <a:buNone/>
            </a:pPr>
            <a:r>
              <a:rPr lang="en-US" sz="1800" i="1" dirty="0">
                <a:solidFill>
                  <a:srgbClr val="FFB300"/>
                </a:solidFill>
                <a:latin typeface="Courier New" pitchFamily="34" charset="0"/>
                <a:ea typeface="Courier New" pitchFamily="34" charset="-122"/>
                <a:cs typeface="Courier New" pitchFamily="34" charset="-120"/>
              </a:rPr>
              <a:t>Keep the refusal letter. It is Exhibit One.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6</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WHY SMALL CLAIMS, NOT CLASS ACTION</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Shape 4"/>
          <p:cNvSpPr/>
          <p:nvPr/>
        </p:nvSpPr>
        <p:spPr>
          <a:xfrm>
            <a:off x="822960" y="1188720"/>
            <a:ext cx="5029200" cy="4023360"/>
          </a:xfrm>
          <a:prstGeom prst="rect">
            <a:avLst/>
          </a:prstGeom>
          <a:solidFill>
            <a:srgbClr val="111111"/>
          </a:solidFill>
          <a:ln w="12700">
            <a:solidFill>
              <a:srgbClr val="2A2A2A"/>
            </a:solidFill>
            <a:prstDash val="solid"/>
          </a:ln>
        </p:spPr>
        <p:txBody>
          <a:bodyPr/>
          <a:lstStyle/>
          <a:p>
            <a:endParaRPr lang="en-US"/>
          </a:p>
        </p:txBody>
      </p:sp>
      <p:sp>
        <p:nvSpPr>
          <p:cNvPr id="7" name="Text 5"/>
          <p:cNvSpPr/>
          <p:nvPr/>
        </p:nvSpPr>
        <p:spPr>
          <a:xfrm>
            <a:off x="1097280" y="1417320"/>
            <a:ext cx="4480560" cy="457200"/>
          </a:xfrm>
          <a:prstGeom prst="rect">
            <a:avLst/>
          </a:prstGeom>
          <a:noFill/>
          <a:ln/>
        </p:spPr>
        <p:txBody>
          <a:bodyPr wrap="square" lIns="0" tIns="0" rIns="0" bIns="0" rtlCol="0" anchor="ctr"/>
          <a:lstStyle/>
          <a:p>
            <a:pPr marL="0" indent="0">
              <a:buNone/>
            </a:pPr>
            <a:r>
              <a:rPr lang="en-US" sz="2000" b="1" dirty="0">
                <a:solidFill>
                  <a:srgbClr val="8A8A8A"/>
                </a:solidFill>
                <a:latin typeface="Courier New" pitchFamily="34" charset="0"/>
                <a:ea typeface="Courier New" pitchFamily="34" charset="-122"/>
                <a:cs typeface="Courier New" pitchFamily="34" charset="-120"/>
              </a:rPr>
              <a:t>CLASS ACTION</a:t>
            </a:r>
            <a:endParaRPr lang="en-US" sz="2000" dirty="0"/>
          </a:p>
        </p:txBody>
      </p:sp>
      <p:sp>
        <p:nvSpPr>
          <p:cNvPr id="8" name="Text 6"/>
          <p:cNvSpPr/>
          <p:nvPr/>
        </p:nvSpPr>
        <p:spPr>
          <a:xfrm>
            <a:off x="1097280" y="2103120"/>
            <a:ext cx="4480560" cy="731520"/>
          </a:xfrm>
          <a:prstGeom prst="rect">
            <a:avLst/>
          </a:prstGeom>
          <a:noFill/>
          <a:ln/>
        </p:spPr>
        <p:txBody>
          <a:bodyPr wrap="square" lIns="0" tIns="0" rIns="0" bIns="0" rtlCol="0" anchor="ctr"/>
          <a:lstStyle/>
          <a:p>
            <a:pPr marL="0" indent="0">
              <a:buNone/>
            </a:pPr>
            <a:r>
              <a:rPr lang="en-US" sz="1500" dirty="0">
                <a:solidFill>
                  <a:srgbClr val="8A8A8A"/>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Years of waiting</a:t>
            </a:r>
            <a:endParaRPr lang="en-US" sz="1500" dirty="0"/>
          </a:p>
        </p:txBody>
      </p:sp>
      <p:sp>
        <p:nvSpPr>
          <p:cNvPr id="9" name="Text 7"/>
          <p:cNvSpPr/>
          <p:nvPr/>
        </p:nvSpPr>
        <p:spPr>
          <a:xfrm>
            <a:off x="1097280" y="2880360"/>
            <a:ext cx="4480560" cy="731520"/>
          </a:xfrm>
          <a:prstGeom prst="rect">
            <a:avLst/>
          </a:prstGeom>
          <a:noFill/>
          <a:ln/>
        </p:spPr>
        <p:txBody>
          <a:bodyPr wrap="square" lIns="0" tIns="0" rIns="0" bIns="0" rtlCol="0" anchor="ctr"/>
          <a:lstStyle/>
          <a:p>
            <a:pPr marL="0" indent="0">
              <a:buNone/>
            </a:pPr>
            <a:r>
              <a:rPr lang="en-US" sz="1500" dirty="0">
                <a:solidFill>
                  <a:srgbClr val="8A8A8A"/>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Lawyers take the cut</a:t>
            </a:r>
            <a:endParaRPr lang="en-US" sz="1500" dirty="0"/>
          </a:p>
        </p:txBody>
      </p:sp>
      <p:sp>
        <p:nvSpPr>
          <p:cNvPr id="10" name="Text 8"/>
          <p:cNvSpPr/>
          <p:nvPr/>
        </p:nvSpPr>
        <p:spPr>
          <a:xfrm>
            <a:off x="1097280" y="3657600"/>
            <a:ext cx="4480560" cy="731520"/>
          </a:xfrm>
          <a:prstGeom prst="rect">
            <a:avLst/>
          </a:prstGeom>
          <a:noFill/>
          <a:ln/>
        </p:spPr>
        <p:txBody>
          <a:bodyPr wrap="square" lIns="0" tIns="0" rIns="0" bIns="0" rtlCol="0" anchor="ctr"/>
          <a:lstStyle/>
          <a:p>
            <a:pPr marL="0" indent="0">
              <a:buNone/>
            </a:pPr>
            <a:r>
              <a:rPr lang="en-US" sz="1500" dirty="0">
                <a:solidFill>
                  <a:srgbClr val="8A8A8A"/>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Your payout: a coupon</a:t>
            </a:r>
            <a:endParaRPr lang="en-US" sz="1500" dirty="0"/>
          </a:p>
          <a:p>
            <a:pPr marL="0" indent="0">
              <a:buNone/>
            </a:pPr>
            <a:r>
              <a:rPr lang="en-US" sz="1500" dirty="0">
                <a:solidFill>
                  <a:srgbClr val="C8C8C8"/>
                </a:solidFill>
                <a:latin typeface="Courier New" pitchFamily="34" charset="0"/>
                <a:ea typeface="Courier New" pitchFamily="34" charset="-122"/>
                <a:cs typeface="Courier New" pitchFamily="34" charset="-120"/>
              </a:rPr>
              <a:t>and a credit-monitoring trial</a:t>
            </a:r>
            <a:endParaRPr lang="en-US" sz="1500" dirty="0"/>
          </a:p>
        </p:txBody>
      </p:sp>
      <p:sp>
        <p:nvSpPr>
          <p:cNvPr id="11" name="Text 9"/>
          <p:cNvSpPr/>
          <p:nvPr/>
        </p:nvSpPr>
        <p:spPr>
          <a:xfrm>
            <a:off x="1097280" y="4434840"/>
            <a:ext cx="4480560" cy="731520"/>
          </a:xfrm>
          <a:prstGeom prst="rect">
            <a:avLst/>
          </a:prstGeom>
          <a:noFill/>
          <a:ln/>
        </p:spPr>
        <p:txBody>
          <a:bodyPr wrap="square" lIns="0" tIns="0" rIns="0" bIns="0" rtlCol="0" anchor="ctr"/>
          <a:lstStyle/>
          <a:p>
            <a:pPr marL="0" indent="0">
              <a:buNone/>
            </a:pPr>
            <a:r>
              <a:rPr lang="en-US" sz="1500" dirty="0">
                <a:solidFill>
                  <a:srgbClr val="8A8A8A"/>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You are a line item</a:t>
            </a:r>
            <a:endParaRPr lang="en-US" sz="1500" dirty="0"/>
          </a:p>
        </p:txBody>
      </p:sp>
      <p:sp>
        <p:nvSpPr>
          <p:cNvPr id="12" name="Shape 10"/>
          <p:cNvSpPr/>
          <p:nvPr/>
        </p:nvSpPr>
        <p:spPr>
          <a:xfrm>
            <a:off x="6309360" y="1188720"/>
            <a:ext cx="5029200" cy="4023360"/>
          </a:xfrm>
          <a:prstGeom prst="rect">
            <a:avLst/>
          </a:prstGeom>
          <a:solidFill>
            <a:srgbClr val="111111"/>
          </a:solidFill>
          <a:ln w="12700">
            <a:solidFill>
              <a:srgbClr val="39FF14"/>
            </a:solidFill>
            <a:prstDash val="solid"/>
          </a:ln>
        </p:spPr>
        <p:txBody>
          <a:bodyPr/>
          <a:lstStyle/>
          <a:p>
            <a:endParaRPr lang="en-US"/>
          </a:p>
        </p:txBody>
      </p:sp>
      <p:sp>
        <p:nvSpPr>
          <p:cNvPr id="13" name="Text 11"/>
          <p:cNvSpPr/>
          <p:nvPr/>
        </p:nvSpPr>
        <p:spPr>
          <a:xfrm>
            <a:off x="6583680" y="1417320"/>
            <a:ext cx="4480560" cy="457200"/>
          </a:xfrm>
          <a:prstGeom prst="rect">
            <a:avLst/>
          </a:prstGeom>
          <a:noFill/>
          <a:ln/>
        </p:spPr>
        <p:txBody>
          <a:bodyPr wrap="square" lIns="0" tIns="0" rIns="0" bIns="0" rtlCol="0" anchor="ctr"/>
          <a:lstStyle/>
          <a:p>
            <a:pPr marL="0" indent="0">
              <a:buNone/>
            </a:pPr>
            <a:r>
              <a:rPr lang="en-US" sz="2000" b="1" dirty="0">
                <a:solidFill>
                  <a:srgbClr val="39FF14"/>
                </a:solidFill>
                <a:latin typeface="Courier New" pitchFamily="34" charset="0"/>
                <a:ea typeface="Courier New" pitchFamily="34" charset="-122"/>
                <a:cs typeface="Courier New" pitchFamily="34" charset="-120"/>
              </a:rPr>
              <a:t>SMALL CLAIMS</a:t>
            </a:r>
            <a:endParaRPr lang="en-US" sz="2000" dirty="0"/>
          </a:p>
        </p:txBody>
      </p:sp>
      <p:sp>
        <p:nvSpPr>
          <p:cNvPr id="14" name="Text 12"/>
          <p:cNvSpPr/>
          <p:nvPr/>
        </p:nvSpPr>
        <p:spPr>
          <a:xfrm>
            <a:off x="6583680" y="2103120"/>
            <a:ext cx="4480560" cy="731520"/>
          </a:xfrm>
          <a:prstGeom prst="rect">
            <a:avLst/>
          </a:prstGeom>
          <a:noFill/>
          <a:ln/>
        </p:spPr>
        <p:txBody>
          <a:bodyPr wrap="square" lIns="0" tIns="0" rIns="0" bIns="0" rtlCol="0" anchor="ctr"/>
          <a:lstStyle/>
          <a:p>
            <a:pPr marL="0" indent="0">
              <a:buNone/>
            </a:pPr>
            <a:r>
              <a:rPr lang="en-US" sz="1500" dirty="0">
                <a:solidFill>
                  <a:srgbClr val="39FF14"/>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$50 filing fee</a:t>
            </a:r>
            <a:endParaRPr lang="en-US" sz="1500" dirty="0"/>
          </a:p>
        </p:txBody>
      </p:sp>
      <p:sp>
        <p:nvSpPr>
          <p:cNvPr id="15" name="Text 13"/>
          <p:cNvSpPr/>
          <p:nvPr/>
        </p:nvSpPr>
        <p:spPr>
          <a:xfrm>
            <a:off x="6583680" y="2880360"/>
            <a:ext cx="4480560" cy="731520"/>
          </a:xfrm>
          <a:prstGeom prst="rect">
            <a:avLst/>
          </a:prstGeom>
          <a:noFill/>
          <a:ln/>
        </p:spPr>
        <p:txBody>
          <a:bodyPr wrap="square" lIns="0" tIns="0" rIns="0" bIns="0" rtlCol="0" anchor="ctr"/>
          <a:lstStyle/>
          <a:p>
            <a:pPr marL="0" indent="0">
              <a:buNone/>
            </a:pPr>
            <a:r>
              <a:rPr lang="en-US" sz="1500" dirty="0">
                <a:solidFill>
                  <a:srgbClr val="39FF14"/>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No lawyers allowed - yours or theirs*</a:t>
            </a:r>
            <a:endParaRPr lang="en-US" sz="1500" dirty="0"/>
          </a:p>
        </p:txBody>
      </p:sp>
      <p:sp>
        <p:nvSpPr>
          <p:cNvPr id="16" name="Text 14"/>
          <p:cNvSpPr/>
          <p:nvPr/>
        </p:nvSpPr>
        <p:spPr>
          <a:xfrm>
            <a:off x="6583680" y="3657600"/>
            <a:ext cx="4480560" cy="731520"/>
          </a:xfrm>
          <a:prstGeom prst="rect">
            <a:avLst/>
          </a:prstGeom>
          <a:noFill/>
          <a:ln/>
        </p:spPr>
        <p:txBody>
          <a:bodyPr wrap="square" lIns="0" tIns="0" rIns="0" bIns="0" rtlCol="0" anchor="ctr"/>
          <a:lstStyle/>
          <a:p>
            <a:pPr marL="0" indent="0">
              <a:buNone/>
            </a:pPr>
            <a:r>
              <a:rPr lang="en-US" sz="1500" dirty="0">
                <a:solidFill>
                  <a:srgbClr val="39FF14"/>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Months, not years</a:t>
            </a:r>
            <a:endParaRPr lang="en-US" sz="1500" dirty="0"/>
          </a:p>
        </p:txBody>
      </p:sp>
      <p:sp>
        <p:nvSpPr>
          <p:cNvPr id="17" name="Text 15"/>
          <p:cNvSpPr/>
          <p:nvPr/>
        </p:nvSpPr>
        <p:spPr>
          <a:xfrm>
            <a:off x="6583680" y="4434840"/>
            <a:ext cx="4480560" cy="731520"/>
          </a:xfrm>
          <a:prstGeom prst="rect">
            <a:avLst/>
          </a:prstGeom>
          <a:noFill/>
          <a:ln/>
        </p:spPr>
        <p:txBody>
          <a:bodyPr wrap="square" lIns="0" tIns="0" rIns="0" bIns="0" rtlCol="0" anchor="ctr"/>
          <a:lstStyle/>
          <a:p>
            <a:pPr marL="0" indent="0">
              <a:buNone/>
            </a:pPr>
            <a:r>
              <a:rPr lang="en-US" sz="1500" dirty="0">
                <a:solidFill>
                  <a:srgbClr val="39FF14"/>
                </a:solidFill>
                <a:latin typeface="Courier New" pitchFamily="34" charset="0"/>
                <a:ea typeface="Courier New" pitchFamily="34" charset="-122"/>
                <a:cs typeface="Courier New" pitchFamily="34" charset="-120"/>
              </a:rPr>
              <a:t>› </a:t>
            </a:r>
            <a:r>
              <a:rPr lang="en-US" sz="1500" dirty="0">
                <a:solidFill>
                  <a:srgbClr val="C8C8C8"/>
                </a:solidFill>
                <a:latin typeface="Courier New" pitchFamily="34" charset="0"/>
                <a:ea typeface="Courier New" pitchFamily="34" charset="-122"/>
                <a:cs typeface="Courier New" pitchFamily="34" charset="-120"/>
              </a:rPr>
              <a:t>The check has YOUR name on it</a:t>
            </a:r>
            <a:endParaRPr lang="en-US" sz="1500" dirty="0"/>
          </a:p>
        </p:txBody>
      </p:sp>
      <p:sp>
        <p:nvSpPr>
          <p:cNvPr id="18" name="Text 16"/>
          <p:cNvSpPr/>
          <p:nvPr/>
        </p:nvSpPr>
        <p:spPr>
          <a:xfrm>
            <a:off x="822960" y="5486400"/>
            <a:ext cx="10607040" cy="777240"/>
          </a:xfrm>
          <a:prstGeom prst="rect">
            <a:avLst/>
          </a:prstGeom>
          <a:noFill/>
          <a:ln/>
        </p:spPr>
        <p:txBody>
          <a:bodyPr wrap="square" lIns="0" tIns="0" rIns="0" bIns="0" rtlCol="0" anchor="ctr"/>
          <a:lstStyle/>
          <a:p>
            <a:pPr marL="0" indent="0">
              <a:buNone/>
            </a:pPr>
            <a:r>
              <a:rPr lang="en-US" sz="1300" dirty="0">
                <a:solidFill>
                  <a:srgbClr val="FFB300"/>
                </a:solidFill>
                <a:latin typeface="Courier New" pitchFamily="34" charset="0"/>
                <a:ea typeface="Courier New" pitchFamily="34" charset="-122"/>
                <a:cs typeface="Courier New" pitchFamily="34" charset="-120"/>
              </a:rPr>
              <a:t>You can opt out of a pending class action and pursue your own remedy. The judge confirmed it.</a:t>
            </a:r>
            <a:endParaRPr lang="en-US" sz="1300" dirty="0"/>
          </a:p>
          <a:p>
            <a:pPr marL="0" indent="0">
              <a:buNone/>
            </a:pPr>
            <a:r>
              <a:rPr lang="en-US" sz="1300" dirty="0">
                <a:solidFill>
                  <a:srgbClr val="FFB300"/>
                </a:solidFill>
                <a:latin typeface="Courier New" pitchFamily="34" charset="0"/>
                <a:ea typeface="Courier New" pitchFamily="34" charset="-122"/>
                <a:cs typeface="Courier New" pitchFamily="34" charset="-120"/>
              </a:rPr>
              <a:t>*WA small claims: corporations may get counsel for jurisdiction motions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7</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TEMPLATE - 1 OF 3</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822960" y="1051560"/>
            <a:ext cx="10607040" cy="502920"/>
          </a:xfrm>
          <a:prstGeom prst="rect">
            <a:avLst/>
          </a:prstGeom>
          <a:noFill/>
          <a:ln/>
        </p:spPr>
        <p:txBody>
          <a:bodyPr wrap="square" lIns="0" tIns="0" rIns="0" bIns="0" rtlCol="0" anchor="ctr"/>
          <a:lstStyle/>
          <a:p>
            <a:pPr marL="0" indent="0">
              <a:buNone/>
            </a:pPr>
            <a:r>
              <a:rPr lang="en-US" sz="2400" b="1" dirty="0">
                <a:solidFill>
                  <a:srgbClr val="F0F0F0"/>
                </a:solidFill>
                <a:latin typeface="Courier New" pitchFamily="34" charset="0"/>
                <a:ea typeface="Courier New" pitchFamily="34" charset="-122"/>
                <a:cs typeface="Courier New" pitchFamily="34" charset="-120"/>
              </a:rPr>
              <a:t>EVIDENCE STEPS</a:t>
            </a:r>
            <a:endParaRPr lang="en-US" sz="2400" dirty="0"/>
          </a:p>
        </p:txBody>
      </p:sp>
      <p:sp>
        <p:nvSpPr>
          <p:cNvPr id="8" name="Text 6"/>
          <p:cNvSpPr/>
          <p:nvPr/>
        </p:nvSpPr>
        <p:spPr>
          <a:xfrm>
            <a:off x="822960" y="2532888"/>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02  </a:t>
            </a:r>
            <a:r>
              <a:rPr lang="en-US" sz="1700" b="1" dirty="0">
                <a:solidFill>
                  <a:srgbClr val="F0F0F0"/>
                </a:solidFill>
                <a:latin typeface="Courier New" pitchFamily="34" charset="0"/>
                <a:ea typeface="Courier New" pitchFamily="34" charset="-122"/>
                <a:cs typeface="Courier New" pitchFamily="34" charset="-120"/>
              </a:rPr>
              <a:t>Wayback their web presence</a:t>
            </a:r>
            <a:r>
              <a:rPr lang="en-US" sz="1700" dirty="0">
                <a:solidFill>
                  <a:srgbClr val="C8C8C8"/>
                </a:solidFill>
                <a:latin typeface="Courier New" pitchFamily="34" charset="0"/>
                <a:ea typeface="Courier New" pitchFamily="34" charset="-122"/>
                <a:cs typeface="Courier New" pitchFamily="34" charset="-120"/>
              </a:rPr>
              <a:t> - blogs vanish during litigation</a:t>
            </a:r>
            <a:endParaRPr lang="en-US" sz="1700" dirty="0"/>
          </a:p>
        </p:txBody>
      </p:sp>
      <p:sp>
        <p:nvSpPr>
          <p:cNvPr id="9" name="Text 7"/>
          <p:cNvSpPr/>
          <p:nvPr/>
        </p:nvSpPr>
        <p:spPr>
          <a:xfrm>
            <a:off x="822960" y="3054098"/>
            <a:ext cx="10908792" cy="1069847"/>
          </a:xfrm>
          <a:prstGeom prst="rect">
            <a:avLst/>
          </a:prstGeom>
          <a:noFill/>
          <a:ln/>
        </p:spPr>
        <p:txBody>
          <a:bodyPr wrap="square" lIns="0" tIns="0" rIns="0" bIns="0" rtlCol="0" anchor="ctr"/>
          <a:lstStyle/>
          <a:p>
            <a:r>
              <a:rPr lang="en-US" sz="1500" dirty="0">
                <a:solidFill>
                  <a:srgbClr val="1A7A09"/>
                </a:solidFill>
                <a:latin typeface="Courier New" pitchFamily="34" charset="0"/>
                <a:ea typeface="Courier New" pitchFamily="34" charset="-122"/>
                <a:cs typeface="Courier New" pitchFamily="34" charset="-120"/>
              </a:rPr>
              <a:t>03  </a:t>
            </a:r>
            <a:r>
              <a:rPr lang="en-US" sz="1700" b="1" dirty="0">
                <a:solidFill>
                  <a:srgbClr val="F0F0F0"/>
                </a:solidFill>
                <a:latin typeface="Courier New" pitchFamily="34" charset="0"/>
                <a:ea typeface="Courier New" pitchFamily="34" charset="-122"/>
                <a:cs typeface="Courier New" pitchFamily="34" charset="-120"/>
              </a:rPr>
              <a:t>Find the real legal entity</a:t>
            </a:r>
            <a:r>
              <a:rPr lang="en-US" sz="1700" dirty="0">
                <a:solidFill>
                  <a:srgbClr val="C8C8C8"/>
                </a:solidFill>
                <a:latin typeface="Courier New" pitchFamily="34" charset="0"/>
                <a:ea typeface="Courier New" pitchFamily="34" charset="-122"/>
                <a:cs typeface="Courier New" pitchFamily="34" charset="-120"/>
              </a:rPr>
              <a:t> - Secretary of State registry + AG breach registry</a:t>
            </a:r>
            <a:br>
              <a:rPr lang="en-US" sz="1700" dirty="0"/>
            </a:br>
            <a:r>
              <a:rPr lang="en-US" sz="1700" dirty="0"/>
              <a:t>              </a:t>
            </a:r>
            <a:r>
              <a:rPr lang="en-US" sz="1500" dirty="0">
                <a:solidFill>
                  <a:srgbClr val="C8C8C8"/>
                </a:solidFill>
                <a:latin typeface="Courier New" pitchFamily="34" charset="0"/>
                <a:ea typeface="Courier New" pitchFamily="34" charset="-122"/>
                <a:cs typeface="Courier New" pitchFamily="34" charset="-120"/>
              </a:rPr>
              <a:t>atg.wa.gov/data-breach-notifications – searchable from any state (500+ WA residents only)</a:t>
            </a:r>
            <a:br>
              <a:rPr lang="en-US" sz="1500" dirty="0">
                <a:solidFill>
                  <a:srgbClr val="C8C8C8"/>
                </a:solidFill>
                <a:latin typeface="Courier New" pitchFamily="34" charset="0"/>
                <a:ea typeface="Courier New" pitchFamily="34" charset="-122"/>
                <a:cs typeface="Courier New" pitchFamily="34" charset="-120"/>
              </a:rPr>
            </a:br>
            <a:r>
              <a:rPr lang="en-US" sz="1500" dirty="0">
                <a:solidFill>
                  <a:srgbClr val="C8C8C8"/>
                </a:solidFill>
                <a:latin typeface="Courier New" pitchFamily="34" charset="0"/>
                <a:ea typeface="Courier New" pitchFamily="34" charset="-122"/>
                <a:cs typeface="Courier New" pitchFamily="34" charset="-120"/>
              </a:rPr>
              <a:t>      </a:t>
            </a:r>
            <a:r>
              <a:rPr lang="en-US" sz="1600" dirty="0">
                <a:solidFill>
                  <a:srgbClr val="C8C8C8"/>
                </a:solidFill>
                <a:latin typeface="Courier New" pitchFamily="34" charset="0"/>
                <a:ea typeface="Courier New" pitchFamily="34" charset="-122"/>
                <a:cs typeface="Courier New" pitchFamily="34" charset="-120"/>
              </a:rPr>
              <a:t>"PBI Research Services"</a:t>
            </a:r>
            <a:r>
              <a:rPr lang="en-US" sz="1500" dirty="0">
                <a:solidFill>
                  <a:srgbClr val="C8C8C8"/>
                </a:solidFill>
                <a:latin typeface="Courier New" pitchFamily="34" charset="0"/>
                <a:ea typeface="Courier New" pitchFamily="34" charset="-122"/>
                <a:cs typeface="Courier New" pitchFamily="34" charset="-120"/>
              </a:rPr>
              <a:t> versus </a:t>
            </a:r>
            <a:r>
              <a:rPr lang="en-US" sz="1600" dirty="0">
                <a:solidFill>
                  <a:srgbClr val="C8C8C8"/>
                </a:solidFill>
                <a:latin typeface="Courier New" pitchFamily="34" charset="0"/>
                <a:ea typeface="Courier New" pitchFamily="34" charset="-122"/>
                <a:cs typeface="Courier New" pitchFamily="34" charset="-120"/>
              </a:rPr>
              <a:t>"</a:t>
            </a:r>
            <a:r>
              <a:rPr lang="en-US" sz="1600" b="1" dirty="0">
                <a:solidFill>
                  <a:srgbClr val="C8C8C8"/>
                </a:solidFill>
                <a:latin typeface="Courier New" pitchFamily="34" charset="0"/>
                <a:ea typeface="Courier New" pitchFamily="34" charset="-122"/>
                <a:cs typeface="Courier New" pitchFamily="34" charset="-120"/>
              </a:rPr>
              <a:t>Pension Benefit Information, LLC ('PBI')</a:t>
            </a:r>
            <a:r>
              <a:rPr lang="en-US" sz="1600" dirty="0">
                <a:solidFill>
                  <a:srgbClr val="C8C8C8"/>
                </a:solidFill>
                <a:latin typeface="Courier New" pitchFamily="34" charset="0"/>
                <a:ea typeface="Courier New" pitchFamily="34" charset="-122"/>
                <a:cs typeface="Courier New" pitchFamily="34" charset="-120"/>
              </a:rPr>
              <a:t>"</a:t>
            </a:r>
            <a:endParaRPr lang="en-US" sz="1700" dirty="0"/>
          </a:p>
        </p:txBody>
      </p:sp>
      <p:sp>
        <p:nvSpPr>
          <p:cNvPr id="10" name="Text 8"/>
          <p:cNvSpPr/>
          <p:nvPr/>
        </p:nvSpPr>
        <p:spPr>
          <a:xfrm>
            <a:off x="822960" y="4032504"/>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04  </a:t>
            </a:r>
            <a:r>
              <a:rPr lang="en-US" sz="1700" b="1" dirty="0">
                <a:solidFill>
                  <a:srgbClr val="F0F0F0"/>
                </a:solidFill>
                <a:latin typeface="Courier New" pitchFamily="34" charset="0"/>
                <a:ea typeface="Courier New" pitchFamily="34" charset="-122"/>
                <a:cs typeface="Courier New" pitchFamily="34" charset="-120"/>
              </a:rPr>
              <a:t>Log time from day one</a:t>
            </a:r>
            <a:r>
              <a:rPr lang="en-US" sz="1700" dirty="0">
                <a:solidFill>
                  <a:srgbClr val="C8C8C8"/>
                </a:solidFill>
                <a:latin typeface="Courier New" pitchFamily="34" charset="0"/>
                <a:ea typeface="Courier New" pitchFamily="34" charset="-122"/>
                <a:cs typeface="Courier New" pitchFamily="34" charset="-120"/>
              </a:rPr>
              <a:t> - timestamps, activities, expert vs routine</a:t>
            </a:r>
            <a:endParaRPr lang="en-US" sz="1700" dirty="0"/>
          </a:p>
        </p:txBody>
      </p:sp>
      <p:sp>
        <p:nvSpPr>
          <p:cNvPr id="11" name="Text 9"/>
          <p:cNvSpPr/>
          <p:nvPr/>
        </p:nvSpPr>
        <p:spPr>
          <a:xfrm>
            <a:off x="822960" y="4782312"/>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05  </a:t>
            </a:r>
            <a:r>
              <a:rPr lang="en-US" sz="1700" b="1" dirty="0">
                <a:solidFill>
                  <a:srgbClr val="F0F0F0"/>
                </a:solidFill>
                <a:latin typeface="Courier New" pitchFamily="34" charset="0"/>
                <a:ea typeface="Courier New" pitchFamily="34" charset="-122"/>
                <a:cs typeface="Courier New" pitchFamily="34" charset="-120"/>
              </a:rPr>
              <a:t>Document your rate basis</a:t>
            </a:r>
            <a:r>
              <a:rPr lang="en-US" sz="1700" dirty="0">
                <a:solidFill>
                  <a:srgbClr val="C8C8C8"/>
                </a:solidFill>
                <a:latin typeface="Courier New" pitchFamily="34" charset="0"/>
                <a:ea typeface="Courier New" pitchFamily="34" charset="-122"/>
                <a:cs typeface="Courier New" pitchFamily="34" charset="-120"/>
              </a:rPr>
              <a:t> - a defensible floor, not your ceiling</a:t>
            </a:r>
            <a:endParaRPr lang="en-US" sz="1700" dirty="0"/>
          </a:p>
        </p:txBody>
      </p:sp>
      <p:sp>
        <p:nvSpPr>
          <p:cNvPr id="12" name="Text 10"/>
          <p:cNvSpPr/>
          <p:nvPr/>
        </p:nvSpPr>
        <p:spPr>
          <a:xfrm>
            <a:off x="822960" y="5623560"/>
            <a:ext cx="10607040" cy="411480"/>
          </a:xfrm>
          <a:prstGeom prst="rect">
            <a:avLst/>
          </a:prstGeom>
          <a:noFill/>
          <a:ln/>
        </p:spPr>
        <p:txBody>
          <a:bodyPr wrap="square" lIns="0" tIns="0" rIns="0" bIns="0" rtlCol="0" anchor="ctr"/>
          <a:lstStyle/>
          <a:p>
            <a:pPr marL="0" indent="0">
              <a:buNone/>
            </a:pPr>
            <a:r>
              <a:rPr lang="en-US" sz="1400" dirty="0">
                <a:solidFill>
                  <a:srgbClr val="39FF14"/>
                </a:solidFill>
                <a:latin typeface="Courier New" pitchFamily="34" charset="0"/>
                <a:ea typeface="Courier New" pitchFamily="34" charset="-122"/>
                <a:cs typeface="Courier New" pitchFamily="34" charset="-120"/>
              </a:rPr>
              <a:t>Full annotated steps, forms, and gotchas: gandalfddi.github.io/pbibreach.html</a:t>
            </a:r>
            <a:endParaRPr lang="en-US" sz="1400" dirty="0"/>
          </a:p>
        </p:txBody>
      </p:sp>
      <p:sp>
        <p:nvSpPr>
          <p:cNvPr id="14" name="Text 6">
            <a:extLst>
              <a:ext uri="{FF2B5EF4-FFF2-40B4-BE49-F238E27FC236}">
                <a16:creationId xmlns:a16="http://schemas.microsoft.com/office/drawing/2014/main" id="{B0A2574D-E3EA-BDCD-3570-D4493BD51076}"/>
              </a:ext>
            </a:extLst>
          </p:cNvPr>
          <p:cNvSpPr/>
          <p:nvPr/>
        </p:nvSpPr>
        <p:spPr>
          <a:xfrm>
            <a:off x="822960" y="1677924"/>
            <a:ext cx="10607040" cy="964694"/>
          </a:xfrm>
          <a:prstGeom prst="rect">
            <a:avLst/>
          </a:prstGeom>
          <a:noFill/>
          <a:ln/>
        </p:spPr>
        <p:txBody>
          <a:bodyPr wrap="square" lIns="0" tIns="0" rIns="0" bIns="0" rtlCol="0" anchor="ctr"/>
          <a:lstStyle/>
          <a:p>
            <a:r>
              <a:rPr lang="en-US" sz="1500" dirty="0">
                <a:solidFill>
                  <a:srgbClr val="1A7A09"/>
                </a:solidFill>
                <a:latin typeface="Courier New" pitchFamily="34" charset="0"/>
                <a:ea typeface="Courier New" pitchFamily="34" charset="-122"/>
                <a:cs typeface="Courier New" pitchFamily="34" charset="-120"/>
              </a:rPr>
              <a:t>01  </a:t>
            </a:r>
            <a:r>
              <a:rPr lang="en-US" sz="1700" b="1" dirty="0">
                <a:solidFill>
                  <a:srgbClr val="F0F0F0"/>
                </a:solidFill>
                <a:latin typeface="Courier New" pitchFamily="34" charset="0"/>
                <a:ea typeface="Courier New" pitchFamily="34" charset="-122"/>
                <a:cs typeface="Courier New" pitchFamily="34" charset="-120"/>
              </a:rPr>
              <a:t>Save everything</a:t>
            </a:r>
            <a:r>
              <a:rPr lang="en-US" sz="1700" dirty="0">
                <a:solidFill>
                  <a:srgbClr val="C8C8C8"/>
                </a:solidFill>
                <a:latin typeface="Courier New" pitchFamily="34" charset="0"/>
                <a:ea typeface="Courier New" pitchFamily="34" charset="-122"/>
                <a:cs typeface="Courier New" pitchFamily="34" charset="-120"/>
              </a:rPr>
              <a:t> - scan the notification letter same day</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bookmark relevant web pages</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"Just The Facts Ma'am" – you do NOT need 10,000 pages of documentation!</a:t>
            </a:r>
          </a:p>
          <a:p>
            <a:pPr marL="0" indent="0">
              <a:buNone/>
            </a:pP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8</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TEMPLATE - 2 OF 3</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822960" y="1051560"/>
            <a:ext cx="10607040" cy="502920"/>
          </a:xfrm>
          <a:prstGeom prst="rect">
            <a:avLst/>
          </a:prstGeom>
          <a:noFill/>
          <a:ln/>
        </p:spPr>
        <p:txBody>
          <a:bodyPr wrap="square" lIns="0" tIns="0" rIns="0" bIns="0" rtlCol="0" anchor="ctr"/>
          <a:lstStyle/>
          <a:p>
            <a:pPr marL="0" indent="0">
              <a:buNone/>
            </a:pPr>
            <a:r>
              <a:rPr lang="en-US" sz="2400" b="1" dirty="0">
                <a:solidFill>
                  <a:srgbClr val="F0F0F0"/>
                </a:solidFill>
                <a:latin typeface="Courier New" pitchFamily="34" charset="0"/>
                <a:ea typeface="Courier New" pitchFamily="34" charset="-122"/>
                <a:cs typeface="Courier New" pitchFamily="34" charset="-120"/>
              </a:rPr>
              <a:t>FILING STEPS</a:t>
            </a:r>
            <a:endParaRPr lang="en-US" sz="2400" dirty="0"/>
          </a:p>
        </p:txBody>
      </p:sp>
      <p:sp>
        <p:nvSpPr>
          <p:cNvPr id="7" name="Text 5"/>
          <p:cNvSpPr/>
          <p:nvPr/>
        </p:nvSpPr>
        <p:spPr>
          <a:xfrm>
            <a:off x="822960" y="1488440"/>
            <a:ext cx="1069848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06  </a:t>
            </a:r>
            <a:r>
              <a:rPr lang="en-US" sz="1700" b="1" dirty="0">
                <a:solidFill>
                  <a:srgbClr val="F0F0F0"/>
                </a:solidFill>
                <a:latin typeface="Courier New" pitchFamily="34" charset="0"/>
                <a:ea typeface="Courier New" pitchFamily="34" charset="-122"/>
                <a:cs typeface="Courier New" pitchFamily="34" charset="-120"/>
              </a:rPr>
              <a:t>Invoice before filing in Small Claims</a:t>
            </a:r>
            <a:r>
              <a:rPr lang="en-US" sz="1700" dirty="0">
                <a:solidFill>
                  <a:srgbClr val="C8C8C8"/>
                </a:solidFill>
                <a:latin typeface="Courier New" pitchFamily="34" charset="0"/>
                <a:ea typeface="Courier New" pitchFamily="34" charset="-122"/>
                <a:cs typeface="Courier New" pitchFamily="34" charset="-120"/>
              </a:rPr>
              <a:t> - deadline + refusal letter = your story</a:t>
            </a:r>
            <a:endParaRPr lang="en-US" sz="1700" dirty="0"/>
          </a:p>
        </p:txBody>
      </p:sp>
      <p:sp>
        <p:nvSpPr>
          <p:cNvPr id="8" name="Text 6"/>
          <p:cNvSpPr/>
          <p:nvPr/>
        </p:nvSpPr>
        <p:spPr>
          <a:xfrm>
            <a:off x="822960" y="2258568"/>
            <a:ext cx="10817352" cy="1490472"/>
          </a:xfrm>
          <a:prstGeom prst="rect">
            <a:avLst/>
          </a:prstGeom>
          <a:noFill/>
          <a:ln/>
        </p:spPr>
        <p:txBody>
          <a:bodyPr wrap="square" lIns="0" tIns="0" rIns="0" bIns="0" rtlCol="0" anchor="ctr"/>
          <a:lstStyle/>
          <a:p>
            <a:r>
              <a:rPr lang="en-US" sz="1500" dirty="0">
                <a:solidFill>
                  <a:srgbClr val="1A7A09"/>
                </a:solidFill>
                <a:latin typeface="Courier New" pitchFamily="34" charset="0"/>
                <a:ea typeface="Courier New" pitchFamily="34" charset="-122"/>
                <a:cs typeface="Courier New" pitchFamily="34" charset="-120"/>
              </a:rPr>
              <a:t>07  </a:t>
            </a:r>
            <a:r>
              <a:rPr lang="en-US" sz="1700" b="1" dirty="0">
                <a:solidFill>
                  <a:srgbClr val="F0F0F0"/>
                </a:solidFill>
                <a:latin typeface="Courier New" pitchFamily="34" charset="0"/>
                <a:ea typeface="Courier New" pitchFamily="34" charset="-122"/>
                <a:cs typeface="Courier New" pitchFamily="34" charset="-120"/>
              </a:rPr>
              <a:t>File your Small Claims</a:t>
            </a:r>
            <a:r>
              <a:rPr lang="en-US" sz="1700" dirty="0">
                <a:solidFill>
                  <a:srgbClr val="C8C8C8"/>
                </a:solidFill>
                <a:latin typeface="Courier New" pitchFamily="34" charset="0"/>
                <a:ea typeface="Courier New" pitchFamily="34" charset="-122"/>
                <a:cs typeface="Courier New" pitchFamily="34" charset="-120"/>
              </a:rPr>
              <a:t> - atg.wa.gov/small-claims-court-0 (WA example)</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Know your state's limits of the claim cap AND appealability threshold</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Under $1K claimed - YOU can't appeal but THEY still can at $250 or more</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File for yourself only – if a spouse files as co-plaintiff they must appear</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Minor child: You, individually or 'as guardian ad litem for J.H., a minor'</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Use initials NOT their name ^^^^</a:t>
            </a:r>
            <a:endParaRPr lang="en-US" sz="1700" dirty="0"/>
          </a:p>
        </p:txBody>
      </p:sp>
      <p:sp>
        <p:nvSpPr>
          <p:cNvPr id="9" name="Text 7"/>
          <p:cNvSpPr/>
          <p:nvPr/>
        </p:nvSpPr>
        <p:spPr>
          <a:xfrm>
            <a:off x="822960" y="3993896"/>
            <a:ext cx="10607040" cy="758952"/>
          </a:xfrm>
          <a:prstGeom prst="rect">
            <a:avLst/>
          </a:prstGeom>
          <a:noFill/>
          <a:ln/>
        </p:spPr>
        <p:txBody>
          <a:bodyPr wrap="square" lIns="0" tIns="0" rIns="0" bIns="0" rtlCol="0" anchor="ctr"/>
          <a:lstStyle/>
          <a:p>
            <a:r>
              <a:rPr lang="en-US" sz="1500" dirty="0">
                <a:solidFill>
                  <a:srgbClr val="1A7A09"/>
                </a:solidFill>
                <a:latin typeface="Courier New" pitchFamily="34" charset="0"/>
                <a:ea typeface="Courier New" pitchFamily="34" charset="-122"/>
                <a:cs typeface="Courier New" pitchFamily="34" charset="-120"/>
              </a:rPr>
              <a:t>08  </a:t>
            </a:r>
            <a:r>
              <a:rPr lang="en-US" sz="1700" b="1" dirty="0">
                <a:solidFill>
                  <a:srgbClr val="F0F0F0"/>
                </a:solidFill>
                <a:latin typeface="Courier New" pitchFamily="34" charset="0"/>
                <a:ea typeface="Courier New" pitchFamily="34" charset="-122"/>
                <a:cs typeface="Courier New" pitchFamily="34" charset="-120"/>
              </a:rPr>
              <a:t>Serve THEIR registered agent</a:t>
            </a:r>
            <a:r>
              <a:rPr lang="en-US" sz="1700" dirty="0">
                <a:solidFill>
                  <a:srgbClr val="C8C8C8"/>
                </a:solidFill>
                <a:latin typeface="Courier New" pitchFamily="34" charset="0"/>
                <a:ea typeface="Courier New" pitchFamily="34" charset="-122"/>
                <a:cs typeface="Courier New" pitchFamily="34" charset="-120"/>
              </a:rPr>
              <a:t> - by process server, never yourself</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Or certified mail (worst case, not recommended)</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a:t>
            </a:r>
            <a:r>
              <a:rPr lang="en-US" sz="1500" dirty="0">
                <a:solidFill>
                  <a:srgbClr val="C8C8C8"/>
                </a:solidFill>
                <a:latin typeface="Courier New" pitchFamily="34" charset="0"/>
                <a:ea typeface="Courier New" pitchFamily="34" charset="-122"/>
                <a:cs typeface="Courier New" pitchFamily="34" charset="-120"/>
              </a:rPr>
              <a:t>be SURE to add the process server fee to your claim (I forgot to)</a:t>
            </a:r>
            <a:endParaRPr lang="en-US" sz="1700" dirty="0"/>
          </a:p>
        </p:txBody>
      </p:sp>
      <p:sp>
        <p:nvSpPr>
          <p:cNvPr id="10" name="Text 8"/>
          <p:cNvSpPr/>
          <p:nvPr/>
        </p:nvSpPr>
        <p:spPr>
          <a:xfrm>
            <a:off x="822960" y="4784344"/>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09  </a:t>
            </a:r>
            <a:r>
              <a:rPr lang="en-US" sz="1700" b="1" dirty="0">
                <a:solidFill>
                  <a:srgbClr val="F0F0F0"/>
                </a:solidFill>
                <a:latin typeface="Courier New" pitchFamily="34" charset="0"/>
                <a:ea typeface="Courier New" pitchFamily="34" charset="-122"/>
                <a:cs typeface="Courier New" pitchFamily="34" charset="-120"/>
              </a:rPr>
              <a:t>Attach yourself to the case portal</a:t>
            </a:r>
            <a:r>
              <a:rPr lang="en-US" sz="1700" dirty="0">
                <a:solidFill>
                  <a:srgbClr val="C8C8C8"/>
                </a:solidFill>
                <a:latin typeface="Courier New" pitchFamily="34" charset="0"/>
                <a:ea typeface="Courier New" pitchFamily="34" charset="-122"/>
                <a:cs typeface="Courier New" pitchFamily="34" charset="-120"/>
              </a:rPr>
              <a:t> - ask the clerk - nobody volunteers this</a:t>
            </a:r>
            <a:endParaRPr lang="en-US" sz="1700" dirty="0"/>
          </a:p>
        </p:txBody>
      </p:sp>
      <p:sp>
        <p:nvSpPr>
          <p:cNvPr id="11" name="Text 9"/>
          <p:cNvSpPr/>
          <p:nvPr/>
        </p:nvSpPr>
        <p:spPr>
          <a:xfrm>
            <a:off x="822960" y="5623560"/>
            <a:ext cx="10607040" cy="411480"/>
          </a:xfrm>
          <a:prstGeom prst="rect">
            <a:avLst/>
          </a:prstGeom>
          <a:noFill/>
          <a:ln/>
        </p:spPr>
        <p:txBody>
          <a:bodyPr wrap="square" lIns="0" tIns="0" rIns="0" bIns="0" rtlCol="0" anchor="ctr"/>
          <a:lstStyle/>
          <a:p>
            <a:pPr marL="0" indent="0">
              <a:buNone/>
            </a:pPr>
            <a:r>
              <a:rPr lang="en-US" sz="1400" dirty="0">
                <a:solidFill>
                  <a:srgbClr val="39FF14"/>
                </a:solidFill>
                <a:latin typeface="Courier New" pitchFamily="34" charset="0"/>
                <a:ea typeface="Courier New" pitchFamily="34" charset="-122"/>
                <a:cs typeface="Courier New" pitchFamily="34" charset="-120"/>
              </a:rPr>
              <a:t>Full annotated steps, forms, and gotchas: gandalfddi.github.io/pbibreach.html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9</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TEMPLATE - 3 OF 3</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822960" y="1051560"/>
            <a:ext cx="10607040" cy="502920"/>
          </a:xfrm>
          <a:prstGeom prst="rect">
            <a:avLst/>
          </a:prstGeom>
          <a:noFill/>
          <a:ln/>
        </p:spPr>
        <p:txBody>
          <a:bodyPr wrap="square" lIns="0" tIns="0" rIns="0" bIns="0" rtlCol="0" anchor="ctr"/>
          <a:lstStyle/>
          <a:p>
            <a:pPr marL="0" indent="0">
              <a:buNone/>
            </a:pPr>
            <a:r>
              <a:rPr lang="en-US" sz="2400" b="1" dirty="0">
                <a:solidFill>
                  <a:srgbClr val="F0F0F0"/>
                </a:solidFill>
                <a:latin typeface="Courier New" pitchFamily="34" charset="0"/>
                <a:ea typeface="Courier New" pitchFamily="34" charset="-122"/>
                <a:cs typeface="Courier New" pitchFamily="34" charset="-120"/>
              </a:rPr>
              <a:t>FIGHT STEPS</a:t>
            </a:r>
            <a:endParaRPr lang="en-US" sz="2400" dirty="0"/>
          </a:p>
        </p:txBody>
      </p:sp>
      <p:sp>
        <p:nvSpPr>
          <p:cNvPr id="7" name="Text 5"/>
          <p:cNvSpPr/>
          <p:nvPr/>
        </p:nvSpPr>
        <p:spPr>
          <a:xfrm>
            <a:off x="822960" y="1783080"/>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10  </a:t>
            </a:r>
            <a:r>
              <a:rPr lang="en-US" sz="1700" b="1" dirty="0">
                <a:solidFill>
                  <a:srgbClr val="F0F0F0"/>
                </a:solidFill>
                <a:latin typeface="Courier New" pitchFamily="34" charset="0"/>
                <a:ea typeface="Courier New" pitchFamily="34" charset="-122"/>
                <a:cs typeface="Courier New" pitchFamily="34" charset="-120"/>
              </a:rPr>
              <a:t>Mediation is free and confidential</a:t>
            </a:r>
            <a:r>
              <a:rPr lang="en-US" sz="1700" dirty="0">
                <a:solidFill>
                  <a:srgbClr val="C8C8C8"/>
                </a:solidFill>
                <a:latin typeface="Courier New" pitchFamily="34" charset="0"/>
                <a:ea typeface="Courier New" pitchFamily="34" charset="-122"/>
                <a:cs typeface="Courier New" pitchFamily="34" charset="-120"/>
              </a:rPr>
              <a:t> - do not settle below your documented</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claim – you MUST attend mediation</a:t>
            </a:r>
            <a:endParaRPr lang="en-US" sz="1700" dirty="0"/>
          </a:p>
        </p:txBody>
      </p:sp>
      <p:sp>
        <p:nvSpPr>
          <p:cNvPr id="8" name="Text 6"/>
          <p:cNvSpPr/>
          <p:nvPr/>
        </p:nvSpPr>
        <p:spPr>
          <a:xfrm>
            <a:off x="822960" y="2532888"/>
            <a:ext cx="10607040" cy="70408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11  </a:t>
            </a:r>
            <a:r>
              <a:rPr lang="en-US" sz="1700" b="1" dirty="0">
                <a:solidFill>
                  <a:srgbClr val="F0F0F0"/>
                </a:solidFill>
                <a:latin typeface="Courier New" pitchFamily="34" charset="0"/>
                <a:ea typeface="Courier New" pitchFamily="34" charset="-122"/>
                <a:cs typeface="Courier New" pitchFamily="34" charset="-120"/>
              </a:rPr>
              <a:t>Beat the jurisdiction motion with data</a:t>
            </a:r>
            <a:r>
              <a:rPr lang="en-US" sz="1700" dirty="0">
                <a:solidFill>
                  <a:srgbClr val="C8C8C8"/>
                </a:solidFill>
                <a:latin typeface="Courier New" pitchFamily="34" charset="0"/>
                <a:ea typeface="Courier New" pitchFamily="34" charset="-122"/>
                <a:cs typeface="Courier New" pitchFamily="34" charset="-120"/>
              </a:rPr>
              <a:t> - resident count + where else can you</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sue? – They will refer you to a class action or to file in their state – Nope</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a:t>
            </a:r>
            <a:r>
              <a:rPr lang="en-US" sz="1700" dirty="0" err="1">
                <a:solidFill>
                  <a:srgbClr val="C8C8C8"/>
                </a:solidFill>
                <a:latin typeface="Courier New" pitchFamily="34" charset="0"/>
                <a:ea typeface="Courier New" pitchFamily="34" charset="-122"/>
                <a:cs typeface="Courier New" pitchFamily="34" charset="-120"/>
              </a:rPr>
              <a:t>nope</a:t>
            </a:r>
            <a:r>
              <a:rPr lang="en-US" sz="1700" dirty="0">
                <a:solidFill>
                  <a:srgbClr val="C8C8C8"/>
                </a:solidFill>
                <a:latin typeface="Courier New" pitchFamily="34" charset="0"/>
                <a:ea typeface="Courier New" pitchFamily="34" charset="-122"/>
                <a:cs typeface="Courier New" pitchFamily="34" charset="-120"/>
              </a:rPr>
              <a:t> </a:t>
            </a:r>
            <a:r>
              <a:rPr lang="en-US" sz="1700" dirty="0" err="1">
                <a:solidFill>
                  <a:srgbClr val="C8C8C8"/>
                </a:solidFill>
                <a:latin typeface="Courier New" pitchFamily="34" charset="0"/>
                <a:ea typeface="Courier New" pitchFamily="34" charset="-122"/>
                <a:cs typeface="Courier New" pitchFamily="34" charset="-120"/>
              </a:rPr>
              <a:t>nope</a:t>
            </a:r>
            <a:r>
              <a:rPr lang="en-US" sz="1700" dirty="0">
                <a:solidFill>
                  <a:srgbClr val="C8C8C8"/>
                </a:solidFill>
                <a:latin typeface="Courier New" pitchFamily="34" charset="0"/>
                <a:ea typeface="Courier New" pitchFamily="34" charset="-122"/>
                <a:cs typeface="Courier New" pitchFamily="34" charset="-120"/>
              </a:rPr>
              <a:t>.</a:t>
            </a:r>
            <a:endParaRPr lang="en-US" sz="1700" dirty="0"/>
          </a:p>
        </p:txBody>
      </p:sp>
      <p:sp>
        <p:nvSpPr>
          <p:cNvPr id="9" name="Text 7"/>
          <p:cNvSpPr/>
          <p:nvPr/>
        </p:nvSpPr>
        <p:spPr>
          <a:xfrm>
            <a:off x="822960" y="3282696"/>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12  </a:t>
            </a:r>
            <a:r>
              <a:rPr lang="en-US" sz="1700" b="1" dirty="0">
                <a:solidFill>
                  <a:srgbClr val="F0F0F0"/>
                </a:solidFill>
                <a:latin typeface="Courier New" pitchFamily="34" charset="0"/>
                <a:ea typeface="Courier New" pitchFamily="34" charset="-122"/>
                <a:cs typeface="Courier New" pitchFamily="34" charset="-120"/>
              </a:rPr>
              <a:t>Exchange evidence 14 days out</a:t>
            </a:r>
            <a:r>
              <a:rPr lang="en-US" sz="1700" dirty="0">
                <a:solidFill>
                  <a:srgbClr val="C8C8C8"/>
                </a:solidFill>
                <a:latin typeface="Courier New" pitchFamily="34" charset="0"/>
                <a:ea typeface="Courier New" pitchFamily="34" charset="-122"/>
                <a:cs typeface="Courier New" pitchFamily="34" charset="-120"/>
              </a:rPr>
              <a:t> – per WA state, in writing, proof of delivery,</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two printed copies</a:t>
            </a:r>
            <a:endParaRPr lang="en-US" sz="1700" dirty="0"/>
          </a:p>
        </p:txBody>
      </p:sp>
      <p:sp>
        <p:nvSpPr>
          <p:cNvPr id="10" name="Text 8"/>
          <p:cNvSpPr/>
          <p:nvPr/>
        </p:nvSpPr>
        <p:spPr>
          <a:xfrm>
            <a:off x="822960" y="4059936"/>
            <a:ext cx="10607040" cy="1152144"/>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13  </a:t>
            </a:r>
            <a:r>
              <a:rPr lang="en-US" sz="1700" b="1" dirty="0">
                <a:solidFill>
                  <a:srgbClr val="F0F0F0"/>
                </a:solidFill>
                <a:latin typeface="Courier New" pitchFamily="34" charset="0"/>
                <a:ea typeface="Courier New" pitchFamily="34" charset="-122"/>
                <a:cs typeface="Courier New" pitchFamily="34" charset="-120"/>
              </a:rPr>
              <a:t>Show up prepared</a:t>
            </a:r>
            <a:r>
              <a:rPr lang="en-US" sz="1700" dirty="0">
                <a:solidFill>
                  <a:srgbClr val="C8C8C8"/>
                </a:solidFill>
                <a:latin typeface="Courier New" pitchFamily="34" charset="0"/>
                <a:ea typeface="Courier New" pitchFamily="34" charset="-122"/>
                <a:cs typeface="Courier New" pitchFamily="34" charset="-120"/>
              </a:rPr>
              <a:t> - five elements, documented evidence, no drama</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 In WA I had 20 minutes - practice and time yourself</a:t>
            </a:r>
            <a:br>
              <a:rPr lang="en-US" sz="1700" dirty="0">
                <a:solidFill>
                  <a:srgbClr val="C8C8C8"/>
                </a:solidFill>
                <a:latin typeface="Courier New" pitchFamily="34" charset="0"/>
                <a:ea typeface="Courier New" pitchFamily="34" charset="-122"/>
                <a:cs typeface="Courier New" pitchFamily="34" charset="-120"/>
              </a:rPr>
            </a:br>
            <a:br>
              <a:rPr lang="en-US" sz="1700" dirty="0"/>
            </a:br>
            <a:r>
              <a:rPr lang="en-US" sz="1700" dirty="0"/>
              <a:t>                     </a:t>
            </a:r>
            <a:r>
              <a:rPr lang="en-US" sz="1500" dirty="0">
                <a:solidFill>
                  <a:srgbClr val="C8C8C8"/>
                </a:solidFill>
                <a:latin typeface="Courier New" pitchFamily="34" charset="0"/>
                <a:ea typeface="Courier New" pitchFamily="34" charset="-122"/>
                <a:cs typeface="Courier New" pitchFamily="34" charset="-120"/>
              </a:rPr>
              <a:t>https://gandalfddi.github.io/PaperCuts_25CIV60102KCX_Argument.pdf</a:t>
            </a:r>
          </a:p>
          <a:p>
            <a:pPr marL="0" indent="0">
              <a:buNone/>
            </a:pPr>
            <a:endParaRPr lang="en-US" sz="1700" dirty="0"/>
          </a:p>
        </p:txBody>
      </p:sp>
      <p:sp>
        <p:nvSpPr>
          <p:cNvPr id="11" name="Text 9"/>
          <p:cNvSpPr/>
          <p:nvPr/>
        </p:nvSpPr>
        <p:spPr>
          <a:xfrm>
            <a:off x="822960" y="4995672"/>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14  </a:t>
            </a:r>
            <a:r>
              <a:rPr lang="en-US" sz="1700" b="1" dirty="0">
                <a:solidFill>
                  <a:srgbClr val="F0F0F0"/>
                </a:solidFill>
                <a:latin typeface="Courier New" pitchFamily="34" charset="0"/>
                <a:ea typeface="Courier New" pitchFamily="34" charset="-122"/>
                <a:cs typeface="Courier New" pitchFamily="34" charset="-120"/>
              </a:rPr>
              <a:t>Take the check</a:t>
            </a:r>
            <a:r>
              <a:rPr lang="en-US" sz="1700" dirty="0">
                <a:solidFill>
                  <a:srgbClr val="C8C8C8"/>
                </a:solidFill>
                <a:latin typeface="Courier New" pitchFamily="34" charset="0"/>
                <a:ea typeface="Courier New" pitchFamily="34" charset="-122"/>
                <a:cs typeface="Courier New" pitchFamily="34" charset="-120"/>
              </a:rPr>
              <a:t> - then file the Satisfaction of Judgment. Close the record.</a:t>
            </a:r>
            <a:endParaRPr lang="en-US" sz="1700" dirty="0"/>
          </a:p>
        </p:txBody>
      </p:sp>
      <p:sp>
        <p:nvSpPr>
          <p:cNvPr id="12" name="Text 10"/>
          <p:cNvSpPr/>
          <p:nvPr/>
        </p:nvSpPr>
        <p:spPr>
          <a:xfrm>
            <a:off x="822960" y="5623560"/>
            <a:ext cx="10607040" cy="411480"/>
          </a:xfrm>
          <a:prstGeom prst="rect">
            <a:avLst/>
          </a:prstGeom>
          <a:noFill/>
          <a:ln/>
        </p:spPr>
        <p:txBody>
          <a:bodyPr wrap="square" lIns="0" tIns="0" rIns="0" bIns="0" rtlCol="0" anchor="ctr"/>
          <a:lstStyle/>
          <a:p>
            <a:pPr marL="0" indent="0">
              <a:buNone/>
            </a:pPr>
            <a:r>
              <a:rPr lang="en-US" sz="1400" dirty="0">
                <a:solidFill>
                  <a:srgbClr val="39FF14"/>
                </a:solidFill>
                <a:latin typeface="Courier New" pitchFamily="34" charset="0"/>
                <a:ea typeface="Courier New" pitchFamily="34" charset="-122"/>
                <a:cs typeface="Courier New" pitchFamily="34" charset="-120"/>
              </a:rPr>
              <a:t>Full annotated steps, forms, and gotchas: gandalfddi.github.io/pbibreach.html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10</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HOME GAME - OREGON</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822960" y="1051560"/>
            <a:ext cx="10607040" cy="502920"/>
          </a:xfrm>
          <a:prstGeom prst="rect">
            <a:avLst/>
          </a:prstGeom>
          <a:noFill/>
          <a:ln/>
        </p:spPr>
        <p:txBody>
          <a:bodyPr wrap="square" lIns="0" tIns="0" rIns="0" bIns="0" rtlCol="0" anchor="ctr"/>
          <a:lstStyle/>
          <a:p>
            <a:pPr marL="0" indent="0">
              <a:buNone/>
            </a:pPr>
            <a:r>
              <a:rPr lang="en-US" sz="2400" b="1" dirty="0">
                <a:solidFill>
                  <a:srgbClr val="F0F0F0"/>
                </a:solidFill>
                <a:latin typeface="Courier New" pitchFamily="34" charset="0"/>
                <a:ea typeface="Courier New" pitchFamily="34" charset="-122"/>
                <a:cs typeface="Courier New" pitchFamily="34" charset="-120"/>
              </a:rPr>
              <a:t>RUNNING THIS IN OREGON</a:t>
            </a:r>
            <a:endParaRPr lang="en-US" sz="2400" dirty="0"/>
          </a:p>
        </p:txBody>
      </p:sp>
      <p:sp>
        <p:nvSpPr>
          <p:cNvPr id="7" name="Text 5"/>
          <p:cNvSpPr/>
          <p:nvPr/>
        </p:nvSpPr>
        <p:spPr>
          <a:xfrm>
            <a:off x="822960" y="1783080"/>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   </a:t>
            </a:r>
            <a:r>
              <a:rPr lang="en-US" sz="1700" b="1" dirty="0">
                <a:solidFill>
                  <a:srgbClr val="F0F0F0"/>
                </a:solidFill>
                <a:latin typeface="Courier New" pitchFamily="34" charset="0"/>
                <a:ea typeface="Courier New" pitchFamily="34" charset="-122"/>
                <a:cs typeface="Courier New" pitchFamily="34" charset="-120"/>
              </a:rPr>
              <a:t>$10,000 max for small claims court, no lawyers</a:t>
            </a:r>
            <a:r>
              <a:rPr lang="en-US" sz="1700" dirty="0">
                <a:solidFill>
                  <a:srgbClr val="C8C8C8"/>
                </a:solidFill>
                <a:latin typeface="Courier New" pitchFamily="34" charset="0"/>
                <a:ea typeface="Courier New" pitchFamily="34" charset="-122"/>
                <a:cs typeface="Courier New" pitchFamily="34" charset="-120"/>
              </a:rPr>
              <a:t> - unless the judge allows one</a:t>
            </a:r>
            <a:endParaRPr lang="en-US" sz="1700" dirty="0"/>
          </a:p>
        </p:txBody>
      </p:sp>
      <p:sp>
        <p:nvSpPr>
          <p:cNvPr id="8" name="Text 6"/>
          <p:cNvSpPr/>
          <p:nvPr/>
        </p:nvSpPr>
        <p:spPr>
          <a:xfrm>
            <a:off x="822960" y="2532888"/>
            <a:ext cx="11091672"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   </a:t>
            </a:r>
            <a:r>
              <a:rPr lang="en-US" sz="1700" b="1" dirty="0">
                <a:solidFill>
                  <a:srgbClr val="F0F0F0"/>
                </a:solidFill>
                <a:latin typeface="Courier New" pitchFamily="34" charset="0"/>
                <a:ea typeface="Courier New" pitchFamily="34" charset="-122"/>
                <a:cs typeface="Courier New" pitchFamily="34" charset="-120"/>
              </a:rPr>
              <a:t>Over $750 claimed? They can demand a jury</a:t>
            </a:r>
            <a:r>
              <a:rPr lang="en-US" sz="1700" dirty="0">
                <a:solidFill>
                  <a:srgbClr val="C8C8C8"/>
                </a:solidFill>
                <a:latin typeface="Courier New" pitchFamily="34" charset="0"/>
                <a:ea typeface="Courier New" pitchFamily="34" charset="-122"/>
                <a:cs typeface="Courier New" pitchFamily="34" charset="-120"/>
              </a:rPr>
              <a:t> - moves it to circuit court,</a:t>
            </a:r>
            <a:br>
              <a:rPr lang="en-US" sz="1700" dirty="0">
                <a:solidFill>
                  <a:srgbClr val="C8C8C8"/>
                </a:solidFill>
                <a:latin typeface="Courier New" pitchFamily="34" charset="0"/>
                <a:ea typeface="Courier New" pitchFamily="34" charset="-122"/>
                <a:cs typeface="Courier New" pitchFamily="34" charset="-120"/>
              </a:rPr>
            </a:br>
            <a:r>
              <a:rPr lang="en-US" sz="1700" dirty="0">
                <a:solidFill>
                  <a:srgbClr val="C8C8C8"/>
                </a:solidFill>
                <a:latin typeface="Courier New" pitchFamily="34" charset="0"/>
                <a:ea typeface="Courier New" pitchFamily="34" charset="-122"/>
                <a:cs typeface="Courier New" pitchFamily="34" charset="-120"/>
              </a:rPr>
              <a:t>                                      lawyers involved, more time consuming</a:t>
            </a:r>
            <a:endParaRPr lang="en-US" sz="1700" dirty="0"/>
          </a:p>
        </p:txBody>
      </p:sp>
      <p:sp>
        <p:nvSpPr>
          <p:cNvPr id="9" name="Text 7"/>
          <p:cNvSpPr/>
          <p:nvPr/>
        </p:nvSpPr>
        <p:spPr>
          <a:xfrm>
            <a:off x="822960" y="3209545"/>
            <a:ext cx="10607040" cy="914400"/>
          </a:xfrm>
          <a:prstGeom prst="rect">
            <a:avLst/>
          </a:prstGeom>
          <a:noFill/>
          <a:ln/>
        </p:spPr>
        <p:txBody>
          <a:bodyPr wrap="square" lIns="0" tIns="0" rIns="0" bIns="0" rtlCol="0" anchor="ctr"/>
          <a:lstStyle/>
          <a:p>
            <a:r>
              <a:rPr lang="en-US" sz="1500" dirty="0">
                <a:solidFill>
                  <a:srgbClr val="1A7A09"/>
                </a:solidFill>
                <a:latin typeface="Courier New" pitchFamily="34" charset="0"/>
                <a:ea typeface="Courier New" pitchFamily="34" charset="-122"/>
                <a:cs typeface="Courier New" pitchFamily="34" charset="-120"/>
              </a:rPr>
              <a:t>›   </a:t>
            </a:r>
            <a:r>
              <a:rPr lang="en-US" sz="1700" b="1" dirty="0">
                <a:solidFill>
                  <a:srgbClr val="F0F0F0"/>
                </a:solidFill>
                <a:latin typeface="Courier New" pitchFamily="34" charset="0"/>
                <a:ea typeface="Courier New" pitchFamily="34" charset="-122"/>
                <a:cs typeface="Courier New" pitchFamily="34" charset="-120"/>
              </a:rPr>
              <a:t>45-day notice deadline, not 30</a:t>
            </a:r>
            <a:r>
              <a:rPr lang="en-US" sz="1700" dirty="0">
                <a:solidFill>
                  <a:srgbClr val="C8C8C8"/>
                </a:solidFill>
                <a:latin typeface="Courier New" pitchFamily="34" charset="0"/>
                <a:ea typeface="Courier New" pitchFamily="34" charset="-122"/>
                <a:cs typeface="Courier New" pitchFamily="34" charset="-120"/>
              </a:rPr>
              <a:t> - ORS 646A.604</a:t>
            </a:r>
            <a:br>
              <a:rPr lang="en-US" sz="1700" dirty="0"/>
            </a:br>
            <a:r>
              <a:rPr lang="en-US" sz="1500" dirty="0">
                <a:solidFill>
                  <a:srgbClr val="C8C8C8"/>
                </a:solidFill>
                <a:latin typeface="Courier New" pitchFamily="34" charset="0"/>
                <a:ea typeface="Courier New" pitchFamily="34" charset="-122"/>
                <a:cs typeface="Courier New" pitchFamily="34" charset="-120"/>
              </a:rPr>
              <a:t>PBI's 42 days would be legal here – lead with negligence + your time</a:t>
            </a:r>
            <a:endParaRPr lang="en-US" sz="1700" dirty="0"/>
          </a:p>
        </p:txBody>
      </p:sp>
      <p:sp>
        <p:nvSpPr>
          <p:cNvPr id="10" name="Text 8"/>
          <p:cNvSpPr/>
          <p:nvPr/>
        </p:nvSpPr>
        <p:spPr>
          <a:xfrm>
            <a:off x="822960" y="4032504"/>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   </a:t>
            </a:r>
            <a:r>
              <a:rPr lang="en-US" sz="1700" b="1" dirty="0">
                <a:solidFill>
                  <a:srgbClr val="F0F0F0"/>
                </a:solidFill>
                <a:latin typeface="Courier New" pitchFamily="34" charset="0"/>
                <a:ea typeface="Courier New" pitchFamily="34" charset="-122"/>
                <a:cs typeface="Courier New" pitchFamily="34" charset="-120"/>
              </a:rPr>
              <a:t>Service: never you</a:t>
            </a:r>
            <a:r>
              <a:rPr lang="en-US" sz="1700" dirty="0">
                <a:solidFill>
                  <a:srgbClr val="C8C8C8"/>
                </a:solidFill>
                <a:latin typeface="Courier New" pitchFamily="34" charset="0"/>
                <a:ea typeface="Courier New" pitchFamily="34" charset="-122"/>
                <a:cs typeface="Courier New" pitchFamily="34" charset="-120"/>
              </a:rPr>
              <a:t> - sheriff, process server, adult 18+</a:t>
            </a:r>
            <a:endParaRPr lang="en-US" sz="1700" dirty="0"/>
          </a:p>
        </p:txBody>
      </p:sp>
      <p:sp>
        <p:nvSpPr>
          <p:cNvPr id="11" name="Text 9"/>
          <p:cNvSpPr/>
          <p:nvPr/>
        </p:nvSpPr>
        <p:spPr>
          <a:xfrm>
            <a:off x="822960" y="4782312"/>
            <a:ext cx="10607040" cy="658368"/>
          </a:xfrm>
          <a:prstGeom prst="rect">
            <a:avLst/>
          </a:prstGeom>
          <a:noFill/>
          <a:ln/>
        </p:spPr>
        <p:txBody>
          <a:bodyPr wrap="square" lIns="0" tIns="0" rIns="0" bIns="0" rtlCol="0" anchor="ctr"/>
          <a:lstStyle/>
          <a:p>
            <a:pPr marL="0" indent="0">
              <a:buNone/>
            </a:pPr>
            <a:r>
              <a:rPr lang="en-US" sz="1500" dirty="0">
                <a:solidFill>
                  <a:srgbClr val="1A7A09"/>
                </a:solidFill>
                <a:latin typeface="Courier New" pitchFamily="34" charset="0"/>
                <a:ea typeface="Courier New" pitchFamily="34" charset="-122"/>
                <a:cs typeface="Courier New" pitchFamily="34" charset="-120"/>
              </a:rPr>
              <a:t>›   </a:t>
            </a:r>
            <a:r>
              <a:rPr lang="en-US" sz="1700" b="1" dirty="0">
                <a:solidFill>
                  <a:srgbClr val="F0F0F0"/>
                </a:solidFill>
                <a:latin typeface="Courier New" pitchFamily="34" charset="0"/>
                <a:ea typeface="Courier New" pitchFamily="34" charset="-122"/>
                <a:cs typeface="Courier New" pitchFamily="34" charset="-120"/>
              </a:rPr>
              <a:t>Breach registry</a:t>
            </a:r>
            <a:r>
              <a:rPr lang="en-US" sz="1700" dirty="0">
                <a:solidFill>
                  <a:srgbClr val="C8C8C8"/>
                </a:solidFill>
                <a:latin typeface="Courier New" pitchFamily="34" charset="0"/>
                <a:ea typeface="Courier New" pitchFamily="34" charset="-122"/>
                <a:cs typeface="Courier New" pitchFamily="34" charset="-120"/>
              </a:rPr>
              <a:t> - justice.oregon.gov/consumer/databreach (250+ Oregonians)</a:t>
            </a:r>
            <a:endParaRPr lang="en-US" sz="1700" dirty="0"/>
          </a:p>
        </p:txBody>
      </p:sp>
      <p:sp>
        <p:nvSpPr>
          <p:cNvPr id="12" name="Text 10"/>
          <p:cNvSpPr/>
          <p:nvPr/>
        </p:nvSpPr>
        <p:spPr>
          <a:xfrm>
            <a:off x="822960" y="5483352"/>
            <a:ext cx="10607040" cy="658367"/>
          </a:xfrm>
          <a:prstGeom prst="rect">
            <a:avLst/>
          </a:prstGeom>
          <a:noFill/>
          <a:ln/>
        </p:spPr>
        <p:txBody>
          <a:bodyPr wrap="square" lIns="0" tIns="0" rIns="0" bIns="0" rtlCol="0" anchor="ctr"/>
          <a:lstStyle/>
          <a:p>
            <a:pPr marL="0" indent="0">
              <a:buNone/>
            </a:pPr>
            <a:r>
              <a:rPr lang="en-US" sz="1400" dirty="0">
                <a:solidFill>
                  <a:srgbClr val="39FF14"/>
                </a:solidFill>
                <a:latin typeface="Courier New" pitchFamily="34" charset="0"/>
                <a:ea typeface="Courier New" pitchFamily="34" charset="-122"/>
                <a:cs typeface="Courier New" pitchFamily="34" charset="-120"/>
              </a:rPr>
              <a:t>Forms: courts.oregon.gov/forms/pages/small-claims.aspx   Guides: oregonlawhelp.org</a:t>
            </a:r>
          </a:p>
          <a:p>
            <a:r>
              <a:rPr lang="en-US" sz="1400" dirty="0">
                <a:solidFill>
                  <a:srgbClr val="39FF14"/>
                </a:solidFill>
                <a:latin typeface="Courier New" pitchFamily="34" charset="0"/>
                <a:ea typeface="Courier New" pitchFamily="34" charset="-122"/>
                <a:cs typeface="Courier New" pitchFamily="34" charset="-120"/>
              </a:rPr>
              <a:t>       courts.oregon.gov/forms/Documents/SC-INSTR-plntf.pdf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11</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WHAT THEY THREW AT ME</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19"/>
            <a:ext cx="11091672" cy="937205"/>
          </a:xfrm>
          <a:prstGeom prst="rect">
            <a:avLst/>
          </a:prstGeom>
          <a:noFill/>
          <a:ln/>
        </p:spPr>
        <p:txBody>
          <a:bodyPr wrap="square" lIns="0" tIns="0" rIns="0" bIns="0" rtlCol="0" anchor="ctr"/>
          <a:lstStyle/>
          <a:p>
            <a:pPr marL="0" indent="0" algn="l">
              <a:buNone/>
            </a:pPr>
            <a:r>
              <a:rPr lang="en-US" sz="3000" b="1" dirty="0">
                <a:solidFill>
                  <a:srgbClr val="F0F0F0"/>
                </a:solidFill>
                <a:latin typeface="Courier New" pitchFamily="34" charset="0"/>
                <a:ea typeface="Courier New" pitchFamily="34" charset="-122"/>
                <a:cs typeface="Courier New" pitchFamily="34" charset="-120"/>
              </a:rPr>
              <a:t>Corporate counsel + motion to dismiss </a:t>
            </a:r>
            <a:r>
              <a:rPr lang="en-US" sz="3000" b="1" dirty="0">
                <a:solidFill>
                  <a:srgbClr val="F0F0F0"/>
                </a:solidFill>
                <a:latin typeface="Courier New" pitchFamily="34" charset="0"/>
                <a:cs typeface="Courier New" pitchFamily="34" charset="-120"/>
              </a:rPr>
              <a:t>(Part 1)</a:t>
            </a:r>
            <a:endParaRPr lang="en-US" sz="3000" dirty="0"/>
          </a:p>
        </p:txBody>
      </p:sp>
      <p:sp>
        <p:nvSpPr>
          <p:cNvPr id="7" name="Text 5"/>
          <p:cNvSpPr/>
          <p:nvPr/>
        </p:nvSpPr>
        <p:spPr>
          <a:xfrm>
            <a:off x="822960" y="1897327"/>
            <a:ext cx="10908792" cy="1069196"/>
          </a:xfrm>
          <a:prstGeom prst="rect">
            <a:avLst/>
          </a:prstGeom>
          <a:noFill/>
          <a:ln/>
        </p:spPr>
        <p:txBody>
          <a:bodyPr wrap="square" lIns="0" tIns="0" rIns="0" bIns="0" rtlCol="0" anchor="ctr"/>
          <a:lstStyle/>
          <a:p>
            <a:pPr marL="0" indent="0">
              <a:buNone/>
            </a:pPr>
            <a:r>
              <a:rPr lang="en-US" sz="2000" b="1" dirty="0">
                <a:solidFill>
                  <a:srgbClr val="FFB300"/>
                </a:solidFill>
                <a:latin typeface="Courier New" pitchFamily="34" charset="0"/>
                <a:ea typeface="Courier New" pitchFamily="34" charset="-122"/>
                <a:cs typeface="Courier New" pitchFamily="34" charset="-120"/>
              </a:rPr>
              <a:t>Their move: </a:t>
            </a:r>
            <a:r>
              <a:rPr lang="en-US" sz="2000" dirty="0">
                <a:solidFill>
                  <a:srgbClr val="C8C8C8"/>
                </a:solidFill>
                <a:latin typeface="Courier New" pitchFamily="34" charset="0"/>
                <a:ea typeface="Courier New" pitchFamily="34" charset="-122"/>
                <a:cs typeface="Courier New" pitchFamily="34" charset="-120"/>
              </a:rPr>
              <a:t>"Washington has no jurisdiction over a Minnesota LLC."</a:t>
            </a:r>
          </a:p>
          <a:p>
            <a:pPr marL="0" indent="0">
              <a:buNone/>
            </a:pPr>
            <a:r>
              <a:rPr lang="en-US" sz="2000" dirty="0">
                <a:solidFill>
                  <a:srgbClr val="C8C8C8"/>
                </a:solidFill>
                <a:latin typeface="Courier New" pitchFamily="34" charset="0"/>
                <a:cs typeface="Courier New" pitchFamily="34" charset="-120"/>
              </a:rPr>
              <a:t>             - See Appendix D of the evidence for your answer:</a:t>
            </a:r>
          </a:p>
          <a:p>
            <a:pPr marL="0" indent="0">
              <a:buNone/>
            </a:pPr>
            <a:r>
              <a:rPr lang="en-US" sz="2000" dirty="0">
                <a:solidFill>
                  <a:srgbClr val="C8C8C8"/>
                </a:solidFill>
                <a:latin typeface="Courier New" pitchFamily="34" charset="0"/>
                <a:cs typeface="Courier New" pitchFamily="34" charset="-120"/>
              </a:rPr>
              <a:t>               </a:t>
            </a:r>
            <a:r>
              <a:rPr lang="en-US" sz="1600" dirty="0">
                <a:solidFill>
                  <a:srgbClr val="C8C8C8"/>
                </a:solidFill>
                <a:latin typeface="Courier New" pitchFamily="34" charset="0"/>
                <a:cs typeface="Courier New" pitchFamily="34" charset="-120"/>
              </a:rPr>
              <a:t>https://gandalfddi.github.io/PaperCuts_25CIV60102KCX_Evidence.pdf</a:t>
            </a:r>
            <a:r>
              <a:rPr lang="en-US" sz="2000" dirty="0">
                <a:solidFill>
                  <a:srgbClr val="C8C8C8"/>
                </a:solidFill>
                <a:latin typeface="Courier New" pitchFamily="34" charset="0"/>
                <a:cs typeface="Courier New" pitchFamily="34" charset="-120"/>
              </a:rPr>
              <a:t> </a:t>
            </a:r>
            <a:endParaRPr lang="en-US" sz="2000" dirty="0"/>
          </a:p>
        </p:txBody>
      </p:sp>
      <p:sp>
        <p:nvSpPr>
          <p:cNvPr id="8" name="Text 6"/>
          <p:cNvSpPr/>
          <p:nvPr/>
        </p:nvSpPr>
        <p:spPr>
          <a:xfrm>
            <a:off x="822960" y="3108960"/>
            <a:ext cx="10607040" cy="731520"/>
          </a:xfrm>
          <a:prstGeom prst="rect">
            <a:avLst/>
          </a:prstGeom>
          <a:noFill/>
          <a:ln/>
        </p:spPr>
        <p:txBody>
          <a:bodyPr wrap="square" lIns="0" tIns="0" rIns="0" bIns="0" rtlCol="0" anchor="ctr"/>
          <a:lstStyle/>
          <a:p>
            <a:pPr marL="0" indent="0">
              <a:buNone/>
            </a:pPr>
            <a:r>
              <a:rPr lang="en-US" sz="2000" b="1" dirty="0">
                <a:solidFill>
                  <a:srgbClr val="FFB300"/>
                </a:solidFill>
                <a:latin typeface="Courier New" pitchFamily="34" charset="0"/>
                <a:ea typeface="Courier New" pitchFamily="34" charset="-122"/>
                <a:cs typeface="Courier New" pitchFamily="34" charset="-120"/>
              </a:rPr>
              <a:t>The bet: </a:t>
            </a:r>
            <a:r>
              <a:rPr lang="en-US" sz="2000" dirty="0">
                <a:solidFill>
                  <a:srgbClr val="C8C8C8"/>
                </a:solidFill>
                <a:latin typeface="Courier New" pitchFamily="34" charset="0"/>
                <a:ea typeface="Courier New" pitchFamily="34" charset="-122"/>
                <a:cs typeface="Courier New" pitchFamily="34" charset="-120"/>
              </a:rPr>
              <a:t>Pro se plaintiff folds when a real lawyer shows up.</a:t>
            </a:r>
            <a:endParaRPr lang="en-US" sz="2000" dirty="0"/>
          </a:p>
        </p:txBody>
      </p:sp>
      <p:sp>
        <p:nvSpPr>
          <p:cNvPr id="9" name="Text 7"/>
          <p:cNvSpPr/>
          <p:nvPr/>
        </p:nvSpPr>
        <p:spPr>
          <a:xfrm>
            <a:off x="822960" y="4053840"/>
            <a:ext cx="10607040" cy="975360"/>
          </a:xfrm>
          <a:prstGeom prst="rect">
            <a:avLst/>
          </a:prstGeom>
          <a:noFill/>
          <a:ln/>
        </p:spPr>
        <p:txBody>
          <a:bodyPr wrap="square" lIns="0" tIns="0" rIns="0" bIns="0" rtlCol="0" anchor="ctr"/>
          <a:lstStyle/>
          <a:p>
            <a:pPr marL="0" indent="0">
              <a:buNone/>
            </a:pPr>
            <a:r>
              <a:rPr lang="en-US" sz="2000" b="1" dirty="0">
                <a:solidFill>
                  <a:srgbClr val="FFB300"/>
                </a:solidFill>
                <a:latin typeface="Courier New" pitchFamily="34" charset="0"/>
                <a:ea typeface="Courier New" pitchFamily="34" charset="-122"/>
                <a:cs typeface="Courier New" pitchFamily="34" charset="-120"/>
              </a:rPr>
              <a:t>The reality: </a:t>
            </a:r>
            <a:r>
              <a:rPr lang="en-US" sz="2000" dirty="0">
                <a:solidFill>
                  <a:srgbClr val="39FF14"/>
                </a:solidFill>
                <a:latin typeface="Courier New" pitchFamily="34" charset="0"/>
                <a:ea typeface="Courier New" pitchFamily="34" charset="-122"/>
                <a:cs typeface="Courier New" pitchFamily="34" charset="-120"/>
              </a:rPr>
              <a:t>Jurisdiction motions are beatable with data, not lawyers. Small Claims is SPECIFICALLY meant for you NOT Lawyers and the Small Claims Judges understand this</a:t>
            </a:r>
            <a:endParaRPr lang="en-US" sz="2000" dirty="0"/>
          </a:p>
        </p:txBody>
      </p:sp>
      <p:sp>
        <p:nvSpPr>
          <p:cNvPr id="10" name="Text 8"/>
          <p:cNvSpPr/>
          <p:nvPr/>
        </p:nvSpPr>
        <p:spPr>
          <a:xfrm>
            <a:off x="822960" y="5394960"/>
            <a:ext cx="10607040" cy="548640"/>
          </a:xfrm>
          <a:prstGeom prst="rect">
            <a:avLst/>
          </a:prstGeom>
          <a:noFill/>
          <a:ln/>
        </p:spPr>
        <p:txBody>
          <a:bodyPr wrap="square" lIns="0" tIns="0" rIns="0" bIns="0" rtlCol="0" anchor="ctr"/>
          <a:lstStyle/>
          <a:p>
            <a:pPr marL="0" indent="0">
              <a:buNone/>
            </a:pPr>
            <a:r>
              <a:rPr lang="en-US" sz="1800" b="1" dirty="0">
                <a:solidFill>
                  <a:srgbClr val="F0F0F0"/>
                </a:solidFill>
                <a:latin typeface="Courier New" pitchFamily="34" charset="0"/>
                <a:ea typeface="Courier New" pitchFamily="34" charset="-122"/>
                <a:cs typeface="Courier New" pitchFamily="34" charset="-120"/>
              </a:rPr>
              <a:t>March 16, 2026: Judge Michael J. Finkle denied the motion and ruled on the merits.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12</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RULING 1 OF 3 - JURISDICTION</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822959"/>
            <a:ext cx="11091672" cy="978407"/>
          </a:xfrm>
          <a:prstGeom prst="rect">
            <a:avLst/>
          </a:prstGeom>
          <a:noFill/>
          <a:ln/>
        </p:spPr>
        <p:txBody>
          <a:bodyPr wrap="square" lIns="0" tIns="0" rIns="0" bIns="0" rtlCol="0" anchor="ctr"/>
          <a:lstStyle/>
          <a:p>
            <a:r>
              <a:rPr lang="en-US" sz="3000" b="1" dirty="0">
                <a:solidFill>
                  <a:srgbClr val="F0F0F0"/>
                </a:solidFill>
                <a:latin typeface="Courier New" pitchFamily="34" charset="0"/>
                <a:ea typeface="Courier New" pitchFamily="34" charset="-122"/>
                <a:cs typeface="Courier New" pitchFamily="34" charset="-120"/>
              </a:rPr>
              <a:t>Corporate counsel + motion to dismiss </a:t>
            </a:r>
            <a:r>
              <a:rPr lang="en-US" sz="3000" b="1" dirty="0">
                <a:solidFill>
                  <a:srgbClr val="F0F0F0"/>
                </a:solidFill>
                <a:latin typeface="Courier New" pitchFamily="34" charset="0"/>
                <a:cs typeface="Courier New" pitchFamily="34" charset="-120"/>
              </a:rPr>
              <a:t>(Part 2)</a:t>
            </a:r>
            <a:endParaRPr lang="en-US" sz="3000" dirty="0"/>
          </a:p>
          <a:p>
            <a:pPr marL="0" indent="0" algn="l">
              <a:buNone/>
            </a:pPr>
            <a:r>
              <a:rPr lang="en-US" sz="3000" b="1" dirty="0">
                <a:solidFill>
                  <a:srgbClr val="F0F0F0"/>
                </a:solidFill>
                <a:latin typeface="Courier New" pitchFamily="34" charset="0"/>
                <a:ea typeface="Courier New" pitchFamily="34" charset="-122"/>
                <a:cs typeface="Courier New" pitchFamily="34" charset="-120"/>
              </a:rPr>
              <a:t>Washington gets to hear this case.</a:t>
            </a:r>
            <a:endParaRPr lang="en-US" sz="3000" dirty="0"/>
          </a:p>
        </p:txBody>
      </p:sp>
      <p:sp>
        <p:nvSpPr>
          <p:cNvPr id="7" name="Shape 5"/>
          <p:cNvSpPr/>
          <p:nvPr/>
        </p:nvSpPr>
        <p:spPr>
          <a:xfrm>
            <a:off x="3108960" y="1874520"/>
            <a:ext cx="5943600" cy="1737360"/>
          </a:xfrm>
          <a:prstGeom prst="rect">
            <a:avLst/>
          </a:prstGeom>
          <a:solidFill>
            <a:srgbClr val="111111"/>
          </a:solidFill>
          <a:ln w="12700">
            <a:solidFill>
              <a:srgbClr val="39FF14"/>
            </a:solidFill>
            <a:prstDash val="solid"/>
          </a:ln>
        </p:spPr>
        <p:txBody>
          <a:bodyPr/>
          <a:lstStyle/>
          <a:p>
            <a:endParaRPr lang="en-US"/>
          </a:p>
        </p:txBody>
      </p:sp>
      <p:sp>
        <p:nvSpPr>
          <p:cNvPr id="8" name="Text 6"/>
          <p:cNvSpPr/>
          <p:nvPr/>
        </p:nvSpPr>
        <p:spPr>
          <a:xfrm>
            <a:off x="3108960" y="2011680"/>
            <a:ext cx="5943600" cy="1005840"/>
          </a:xfrm>
          <a:prstGeom prst="rect">
            <a:avLst/>
          </a:prstGeom>
          <a:noFill/>
          <a:ln/>
        </p:spPr>
        <p:txBody>
          <a:bodyPr wrap="square" lIns="0" tIns="0" rIns="0" bIns="0" rtlCol="0" anchor="ctr"/>
          <a:lstStyle/>
          <a:p>
            <a:pPr marL="0" indent="0" algn="ctr">
              <a:buNone/>
            </a:pPr>
            <a:r>
              <a:rPr lang="en-US" sz="5800" b="1" dirty="0">
                <a:solidFill>
                  <a:srgbClr val="39FF14"/>
                </a:solidFill>
                <a:latin typeface="Courier New" pitchFamily="34" charset="0"/>
                <a:ea typeface="Courier New" pitchFamily="34" charset="-122"/>
                <a:cs typeface="Courier New" pitchFamily="34" charset="-120"/>
              </a:rPr>
              <a:t>18,856</a:t>
            </a:r>
            <a:endParaRPr lang="en-US" sz="5800" dirty="0"/>
          </a:p>
        </p:txBody>
      </p:sp>
      <p:sp>
        <p:nvSpPr>
          <p:cNvPr id="9" name="Text 7"/>
          <p:cNvSpPr/>
          <p:nvPr/>
        </p:nvSpPr>
        <p:spPr>
          <a:xfrm>
            <a:off x="3108960" y="3017520"/>
            <a:ext cx="5943600" cy="411480"/>
          </a:xfrm>
          <a:prstGeom prst="rect">
            <a:avLst/>
          </a:prstGeom>
          <a:noFill/>
          <a:ln/>
        </p:spPr>
        <p:txBody>
          <a:bodyPr wrap="square" lIns="0" tIns="0" rIns="0" bIns="0" rtlCol="0" anchor="ctr"/>
          <a:lstStyle/>
          <a:p>
            <a:pPr marL="0" indent="0" algn="ctr">
              <a:buNone/>
            </a:pPr>
            <a:r>
              <a:rPr lang="en-US" sz="1400" dirty="0">
                <a:solidFill>
                  <a:srgbClr val="C8C8C8"/>
                </a:solidFill>
                <a:latin typeface="Courier New" pitchFamily="34" charset="0"/>
                <a:ea typeface="Courier New" pitchFamily="34" charset="-122"/>
                <a:cs typeface="Courier New" pitchFamily="34" charset="-120"/>
              </a:rPr>
              <a:t>WA residents notified, per PBI's own AG filings</a:t>
            </a:r>
            <a:endParaRPr lang="en-US" sz="1400" dirty="0"/>
          </a:p>
        </p:txBody>
      </p:sp>
      <p:sp>
        <p:nvSpPr>
          <p:cNvPr id="10" name="Text 8"/>
          <p:cNvSpPr/>
          <p:nvPr/>
        </p:nvSpPr>
        <p:spPr>
          <a:xfrm>
            <a:off x="822960" y="4023360"/>
            <a:ext cx="10607040" cy="502920"/>
          </a:xfrm>
          <a:prstGeom prst="rect">
            <a:avLst/>
          </a:prstGeom>
          <a:noFill/>
          <a:ln/>
        </p:spPr>
        <p:txBody>
          <a:bodyPr wrap="square" lIns="0" tIns="0" rIns="0" bIns="0" rtlCol="0" anchor="ctr"/>
          <a:lstStyle/>
          <a:p>
            <a:pPr marL="0" indent="0">
              <a:buNone/>
            </a:pPr>
            <a:r>
              <a:rPr lang="en-US" sz="1700" dirty="0">
                <a:solidFill>
                  <a:srgbClr val="39FF14"/>
                </a:solidFill>
                <a:latin typeface="Courier New" pitchFamily="34" charset="0"/>
                <a:ea typeface="Courier New" pitchFamily="34" charset="-122"/>
                <a:cs typeface="Courier New" pitchFamily="34" charset="-120"/>
              </a:rPr>
              <a:t>› </a:t>
            </a:r>
            <a:r>
              <a:rPr lang="en-US" sz="1700" dirty="0">
                <a:solidFill>
                  <a:srgbClr val="C8C8C8"/>
                </a:solidFill>
                <a:latin typeface="Courier New" pitchFamily="34" charset="0"/>
                <a:ea typeface="Courier New" pitchFamily="34" charset="-122"/>
                <a:cs typeface="Courier New" pitchFamily="34" charset="-120"/>
              </a:rPr>
              <a:t>PBI filed breach notifications with the WA Attorney General</a:t>
            </a:r>
            <a:endParaRPr lang="en-US" sz="1700" dirty="0"/>
          </a:p>
        </p:txBody>
      </p:sp>
      <p:sp>
        <p:nvSpPr>
          <p:cNvPr id="11" name="Text 9"/>
          <p:cNvSpPr/>
          <p:nvPr/>
        </p:nvSpPr>
        <p:spPr>
          <a:xfrm>
            <a:off x="822960" y="4617720"/>
            <a:ext cx="10607040" cy="502920"/>
          </a:xfrm>
          <a:prstGeom prst="rect">
            <a:avLst/>
          </a:prstGeom>
          <a:noFill/>
          <a:ln/>
        </p:spPr>
        <p:txBody>
          <a:bodyPr wrap="square" lIns="0" tIns="0" rIns="0" bIns="0" rtlCol="0" anchor="ctr"/>
          <a:lstStyle/>
          <a:p>
            <a:pPr marL="0" indent="0">
              <a:buNone/>
            </a:pPr>
            <a:r>
              <a:rPr lang="en-US" sz="1700" dirty="0">
                <a:solidFill>
                  <a:srgbClr val="39FF14"/>
                </a:solidFill>
                <a:latin typeface="Courier New" pitchFamily="34" charset="0"/>
                <a:ea typeface="Courier New" pitchFamily="34" charset="-122"/>
                <a:cs typeface="Courier New" pitchFamily="34" charset="-120"/>
              </a:rPr>
              <a:t>› </a:t>
            </a:r>
            <a:r>
              <a:rPr lang="en-US" sz="1700" dirty="0">
                <a:solidFill>
                  <a:srgbClr val="C8C8C8"/>
                </a:solidFill>
                <a:latin typeface="Courier New" pitchFamily="34" charset="0"/>
                <a:ea typeface="Courier New" pitchFamily="34" charset="-122"/>
                <a:cs typeface="Courier New" pitchFamily="34" charset="-120"/>
              </a:rPr>
              <a:t>Individual WA residents have no practical recourse anywhere else</a:t>
            </a:r>
            <a:endParaRPr lang="en-US" sz="1700" dirty="0"/>
          </a:p>
        </p:txBody>
      </p:sp>
      <p:sp>
        <p:nvSpPr>
          <p:cNvPr id="12" name="Text 10"/>
          <p:cNvSpPr/>
          <p:nvPr/>
        </p:nvSpPr>
        <p:spPr>
          <a:xfrm>
            <a:off x="822960" y="5212080"/>
            <a:ext cx="10607040" cy="502920"/>
          </a:xfrm>
          <a:prstGeom prst="rect">
            <a:avLst/>
          </a:prstGeom>
          <a:noFill/>
          <a:ln/>
        </p:spPr>
        <p:txBody>
          <a:bodyPr wrap="square" lIns="0" tIns="0" rIns="0" bIns="0" rtlCol="0" anchor="ctr"/>
          <a:lstStyle/>
          <a:p>
            <a:pPr marL="0" indent="0">
              <a:buNone/>
            </a:pPr>
            <a:r>
              <a:rPr lang="en-US" sz="1700" dirty="0">
                <a:solidFill>
                  <a:srgbClr val="39FF14"/>
                </a:solidFill>
                <a:latin typeface="Courier New" pitchFamily="34" charset="0"/>
                <a:ea typeface="Courier New" pitchFamily="34" charset="-122"/>
                <a:cs typeface="Courier New" pitchFamily="34" charset="-120"/>
              </a:rPr>
              <a:t>› </a:t>
            </a:r>
            <a:r>
              <a:rPr lang="en-US" sz="1700" dirty="0">
                <a:solidFill>
                  <a:srgbClr val="C8C8C8"/>
                </a:solidFill>
                <a:latin typeface="Courier New" pitchFamily="34" charset="0"/>
                <a:ea typeface="Courier New" pitchFamily="34" charset="-122"/>
                <a:cs typeface="Courier New" pitchFamily="34" charset="-120"/>
              </a:rPr>
              <a:t>No physical presence required - the harm landed here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13</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RULING 2 OF 3 - NEGLIGENCE</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20"/>
            <a:ext cx="11091672" cy="731520"/>
          </a:xfrm>
          <a:prstGeom prst="rect">
            <a:avLst/>
          </a:prstGeom>
          <a:noFill/>
          <a:ln/>
        </p:spPr>
        <p:txBody>
          <a:bodyPr wrap="square" lIns="0" tIns="0" rIns="0" bIns="0" rtlCol="0" anchor="ctr"/>
          <a:lstStyle/>
          <a:p>
            <a:pPr marL="0" indent="0" algn="l">
              <a:buNone/>
            </a:pPr>
            <a:r>
              <a:rPr lang="en-US" sz="2600" b="1" dirty="0">
                <a:solidFill>
                  <a:srgbClr val="F0F0F0"/>
                </a:solidFill>
                <a:latin typeface="Courier New" pitchFamily="34" charset="0"/>
                <a:ea typeface="Courier New" pitchFamily="34" charset="-122"/>
                <a:cs typeface="Courier New" pitchFamily="34" charset="-120"/>
              </a:rPr>
              <a:t>One vulnerability. Zero defense-in-depth. Negligent</a:t>
            </a:r>
            <a:endParaRPr lang="en-US" sz="2600" dirty="0"/>
          </a:p>
        </p:txBody>
      </p:sp>
      <p:sp>
        <p:nvSpPr>
          <p:cNvPr id="7" name="Text 5"/>
          <p:cNvSpPr/>
          <p:nvPr/>
        </p:nvSpPr>
        <p:spPr>
          <a:xfrm>
            <a:off x="822960" y="2011680"/>
            <a:ext cx="10607040" cy="502920"/>
          </a:xfrm>
          <a:prstGeom prst="rect">
            <a:avLst/>
          </a:prstGeom>
          <a:noFill/>
          <a:ln/>
        </p:spPr>
        <p:txBody>
          <a:bodyPr wrap="square" lIns="0" tIns="0" rIns="0" bIns="0" rtlCol="0" anchor="ctr"/>
          <a:lstStyle/>
          <a:p>
            <a:pPr marL="0" indent="0">
              <a:buNone/>
            </a:pPr>
            <a:r>
              <a:rPr lang="en-US" sz="1800" dirty="0">
                <a:solidFill>
                  <a:srgbClr val="C8C8C8"/>
                </a:solidFill>
                <a:latin typeface="Courier New" pitchFamily="34" charset="0"/>
                <a:ea typeface="Courier New" pitchFamily="34" charset="-122"/>
                <a:cs typeface="Courier New" pitchFamily="34" charset="-120"/>
              </a:rPr>
              <a:t>The court adopted defense-in-depth as the standard of care:</a:t>
            </a:r>
            <a:endParaRPr lang="en-US" sz="1800" dirty="0"/>
          </a:p>
        </p:txBody>
      </p:sp>
      <p:sp>
        <p:nvSpPr>
          <p:cNvPr id="8" name="Shape 6"/>
          <p:cNvSpPr/>
          <p:nvPr/>
        </p:nvSpPr>
        <p:spPr>
          <a:xfrm>
            <a:off x="1280160" y="2743200"/>
            <a:ext cx="9601200" cy="1463040"/>
          </a:xfrm>
          <a:prstGeom prst="rect">
            <a:avLst/>
          </a:prstGeom>
          <a:solidFill>
            <a:srgbClr val="111111"/>
          </a:solidFill>
          <a:ln w="12700">
            <a:solidFill>
              <a:srgbClr val="FFB300"/>
            </a:solidFill>
            <a:prstDash val="solid"/>
          </a:ln>
        </p:spPr>
        <p:txBody>
          <a:bodyPr/>
          <a:lstStyle/>
          <a:p>
            <a:endParaRPr lang="en-US"/>
          </a:p>
        </p:txBody>
      </p:sp>
      <p:sp>
        <p:nvSpPr>
          <p:cNvPr id="9" name="Text 7"/>
          <p:cNvSpPr/>
          <p:nvPr/>
        </p:nvSpPr>
        <p:spPr>
          <a:xfrm>
            <a:off x="1463040" y="2743200"/>
            <a:ext cx="9235440" cy="1463040"/>
          </a:xfrm>
          <a:prstGeom prst="rect">
            <a:avLst/>
          </a:prstGeom>
          <a:noFill/>
          <a:ln/>
        </p:spPr>
        <p:txBody>
          <a:bodyPr wrap="square" lIns="0" tIns="0" rIns="0" bIns="0" rtlCol="0" anchor="ctr"/>
          <a:lstStyle/>
          <a:p>
            <a:pPr marL="0" indent="0" algn="ctr">
              <a:buNone/>
            </a:pPr>
            <a:r>
              <a:rPr lang="en-US" sz="1900" i="1" dirty="0">
                <a:solidFill>
                  <a:srgbClr val="FFB300"/>
                </a:solidFill>
                <a:latin typeface="Courier New" pitchFamily="34" charset="0"/>
                <a:ea typeface="Courier New" pitchFamily="34" charset="-122"/>
                <a:cs typeface="Courier New" pitchFamily="34" charset="-120"/>
              </a:rPr>
              <a:t>A single security vulnerability with no second layer</a:t>
            </a:r>
            <a:endParaRPr lang="en-US" sz="1900" dirty="0"/>
          </a:p>
          <a:p>
            <a:pPr marL="0" indent="0" algn="ctr">
              <a:buNone/>
            </a:pPr>
            <a:r>
              <a:rPr lang="en-US" sz="1900" i="1" dirty="0">
                <a:solidFill>
                  <a:srgbClr val="FFB300"/>
                </a:solidFill>
                <a:latin typeface="Courier New" pitchFamily="34" charset="0"/>
                <a:ea typeface="Courier New" pitchFamily="34" charset="-122"/>
                <a:cs typeface="Courier New" pitchFamily="34" charset="-120"/>
              </a:rPr>
              <a:t>is a failure of the appropriate standard.</a:t>
            </a:r>
            <a:endParaRPr lang="en-US" sz="1900" dirty="0"/>
          </a:p>
        </p:txBody>
      </p:sp>
      <p:sp>
        <p:nvSpPr>
          <p:cNvPr id="10" name="Text 8"/>
          <p:cNvSpPr/>
          <p:nvPr/>
        </p:nvSpPr>
        <p:spPr>
          <a:xfrm>
            <a:off x="822960" y="4663440"/>
            <a:ext cx="10607040" cy="914400"/>
          </a:xfrm>
          <a:prstGeom prst="rect">
            <a:avLst/>
          </a:prstGeom>
          <a:noFill/>
          <a:ln/>
        </p:spPr>
        <p:txBody>
          <a:bodyPr wrap="square" lIns="0" tIns="0" rIns="0" bIns="0" rtlCol="0" anchor="ctr"/>
          <a:lstStyle/>
          <a:p>
            <a:pPr marL="0" indent="0">
              <a:buNone/>
            </a:pPr>
            <a:r>
              <a:rPr lang="en-US" sz="1800" dirty="0">
                <a:solidFill>
                  <a:srgbClr val="C8C8C8"/>
                </a:solidFill>
                <a:latin typeface="Courier New" pitchFamily="34" charset="0"/>
                <a:ea typeface="Courier New" pitchFamily="34" charset="-122"/>
                <a:cs typeface="Courier New" pitchFamily="34" charset="-120"/>
              </a:rPr>
              <a:t>Everybody here has argued for defense-in-depth budgets for decades.</a:t>
            </a:r>
            <a:endParaRPr lang="en-US" sz="1800" dirty="0"/>
          </a:p>
          <a:p>
            <a:pPr marL="0" indent="0">
              <a:buNone/>
            </a:pPr>
            <a:r>
              <a:rPr lang="en-US" sz="1800" dirty="0">
                <a:solidFill>
                  <a:srgbClr val="C8C8C8"/>
                </a:solidFill>
                <a:latin typeface="Courier New" pitchFamily="34" charset="0"/>
                <a:ea typeface="Courier New" pitchFamily="34" charset="-122"/>
                <a:cs typeface="Courier New" pitchFamily="34" charset="-120"/>
              </a:rPr>
              <a:t>Now there is a courtroom finding you can cite to your CFO.</a:t>
            </a:r>
            <a:endParaRPr lang="en-US" sz="1800" dirty="0"/>
          </a:p>
        </p:txBody>
      </p:sp>
      <p:sp>
        <p:nvSpPr>
          <p:cNvPr id="20" name="Text 9"/>
          <p:cNvSpPr/>
          <p:nvPr/>
        </p:nvSpPr>
        <p:spPr>
          <a:xfrm>
            <a:off x="822960" y="5669280"/>
            <a:ext cx="10607040" cy="548640"/>
          </a:xfrm>
          <a:prstGeom prst="rect">
            <a:avLst/>
          </a:prstGeom>
          <a:noFill/>
          <a:ln/>
        </p:spPr>
        <p:txBody>
          <a:bodyPr wrap="square" lIns="0" tIns="0" rIns="0" bIns="0" rtlCol="0" anchor="ctr"/>
          <a:lstStyle/>
          <a:p>
            <a:pPr marL="0" indent="0">
              <a:buNone/>
            </a:pPr>
            <a:r>
              <a:rPr lang="en-US" sz="1300" i="1" dirty="0">
                <a:solidFill>
                  <a:srgbClr val="8A8A8A"/>
                </a:solidFill>
                <a:latin typeface="Courier New" pitchFamily="34" charset="0"/>
                <a:ea typeface="Courier New" pitchFamily="34" charset="-122"/>
                <a:cs typeface="Courier New" pitchFamily="34" charset="-120"/>
              </a:rPr>
              <a:t>Addendum, verbatim: "the Court finds by a preponderance that MOVEit was negligent." Judgment entered against PBI.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14</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RULING 3 OF 3 - YOUR TIME HAS VALUE</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20"/>
            <a:ext cx="11274552" cy="731520"/>
          </a:xfrm>
          <a:prstGeom prst="rect">
            <a:avLst/>
          </a:prstGeom>
          <a:noFill/>
          <a:ln/>
        </p:spPr>
        <p:txBody>
          <a:bodyPr wrap="square" lIns="0" tIns="0" rIns="0" bIns="0" rtlCol="0" anchor="ctr"/>
          <a:lstStyle/>
          <a:p>
            <a:pPr marL="0" indent="0" algn="l">
              <a:buNone/>
            </a:pPr>
            <a:r>
              <a:rPr lang="en-US" sz="3000" b="1" dirty="0">
                <a:solidFill>
                  <a:srgbClr val="F0F0F0"/>
                </a:solidFill>
                <a:latin typeface="Courier New" pitchFamily="34" charset="0"/>
                <a:ea typeface="Courier New" pitchFamily="34" charset="-122"/>
                <a:cs typeface="Courier New" pitchFamily="34" charset="-120"/>
              </a:rPr>
              <a:t>Expert time is compensable. Routine time may not</a:t>
            </a:r>
            <a:endParaRPr lang="en-US" sz="3000" dirty="0"/>
          </a:p>
        </p:txBody>
      </p:sp>
      <p:sp>
        <p:nvSpPr>
          <p:cNvPr id="7" name="Shape 5"/>
          <p:cNvSpPr/>
          <p:nvPr/>
        </p:nvSpPr>
        <p:spPr>
          <a:xfrm>
            <a:off x="822960" y="1965960"/>
            <a:ext cx="5029200" cy="2651760"/>
          </a:xfrm>
          <a:prstGeom prst="rect">
            <a:avLst/>
          </a:prstGeom>
          <a:solidFill>
            <a:srgbClr val="111111"/>
          </a:solidFill>
          <a:ln w="12700">
            <a:solidFill>
              <a:srgbClr val="39FF14"/>
            </a:solidFill>
            <a:prstDash val="solid"/>
          </a:ln>
        </p:spPr>
        <p:txBody>
          <a:bodyPr/>
          <a:lstStyle/>
          <a:p>
            <a:endParaRPr lang="en-US"/>
          </a:p>
        </p:txBody>
      </p:sp>
      <p:sp>
        <p:nvSpPr>
          <p:cNvPr id="8" name="Text 6"/>
          <p:cNvSpPr/>
          <p:nvPr/>
        </p:nvSpPr>
        <p:spPr>
          <a:xfrm>
            <a:off x="1097280" y="2148840"/>
            <a:ext cx="4480560" cy="411480"/>
          </a:xfrm>
          <a:prstGeom prst="rect">
            <a:avLst/>
          </a:prstGeom>
          <a:noFill/>
          <a:ln/>
        </p:spPr>
        <p:txBody>
          <a:bodyPr wrap="square" lIns="0" tIns="0" rIns="0" bIns="0" rtlCol="0" anchor="ctr"/>
          <a:lstStyle/>
          <a:p>
            <a:pPr marL="0" indent="0">
              <a:buNone/>
            </a:pPr>
            <a:r>
              <a:rPr lang="en-US" sz="1700" b="1" dirty="0">
                <a:solidFill>
                  <a:srgbClr val="39FF14"/>
                </a:solidFill>
                <a:latin typeface="Courier New" pitchFamily="34" charset="0"/>
                <a:ea typeface="Courier New" pitchFamily="34" charset="-122"/>
                <a:cs typeface="Courier New" pitchFamily="34" charset="-120"/>
              </a:rPr>
              <a:t>COMPENSABLE</a:t>
            </a:r>
            <a:endParaRPr lang="en-US" sz="1700" dirty="0"/>
          </a:p>
        </p:txBody>
      </p:sp>
      <p:sp>
        <p:nvSpPr>
          <p:cNvPr id="9" name="Text 7"/>
          <p:cNvSpPr/>
          <p:nvPr/>
        </p:nvSpPr>
        <p:spPr>
          <a:xfrm>
            <a:off x="1097280" y="2697480"/>
            <a:ext cx="4480560" cy="1828800"/>
          </a:xfrm>
          <a:prstGeom prst="rect">
            <a:avLst/>
          </a:prstGeom>
          <a:noFill/>
          <a:ln/>
        </p:spPr>
        <p:txBody>
          <a:bodyPr wrap="square" lIns="0" tIns="0" rIns="0" bIns="0" rtlCol="0" anchor="ctr"/>
          <a:lstStyle/>
          <a:p>
            <a:pPr marL="0" indent="0">
              <a:buNone/>
            </a:pPr>
            <a:r>
              <a:rPr lang="en-US" sz="1500" dirty="0">
                <a:solidFill>
                  <a:srgbClr val="C8C8C8"/>
                </a:solidFill>
                <a:latin typeface="Courier New" pitchFamily="34" charset="0"/>
                <a:ea typeface="Courier New" pitchFamily="34" charset="-122"/>
                <a:cs typeface="Courier New" pitchFamily="34" charset="-120"/>
              </a:rPr>
              <a:t>Expert security evaluation of the breach - skills an ordinary victim does not have.</a:t>
            </a:r>
            <a:endParaRPr lang="en-US" sz="1500" dirty="0"/>
          </a:p>
          <a:p>
            <a:pPr marL="0" indent="0">
              <a:buNone/>
            </a:pPr>
            <a:endParaRPr lang="en-US" sz="1500" dirty="0"/>
          </a:p>
          <a:p>
            <a:pPr marL="0" indent="0">
              <a:buNone/>
            </a:pPr>
            <a:r>
              <a:rPr lang="en-US" sz="1500" dirty="0">
                <a:solidFill>
                  <a:srgbClr val="C8C8C8"/>
                </a:solidFill>
                <a:latin typeface="Courier New" pitchFamily="34" charset="0"/>
                <a:ea typeface="Courier New" pitchFamily="34" charset="-122"/>
                <a:cs typeface="Courier New" pitchFamily="34" charset="-120"/>
              </a:rPr>
              <a:t>Awarded: 1 hour @ $300 professional rate.</a:t>
            </a:r>
            <a:endParaRPr lang="en-US" sz="1500" dirty="0"/>
          </a:p>
        </p:txBody>
      </p:sp>
      <p:sp>
        <p:nvSpPr>
          <p:cNvPr id="10" name="Shape 8"/>
          <p:cNvSpPr/>
          <p:nvPr/>
        </p:nvSpPr>
        <p:spPr>
          <a:xfrm>
            <a:off x="6309360" y="1965960"/>
            <a:ext cx="5029200" cy="2651760"/>
          </a:xfrm>
          <a:prstGeom prst="rect">
            <a:avLst/>
          </a:prstGeom>
          <a:solidFill>
            <a:srgbClr val="111111"/>
          </a:solidFill>
          <a:ln w="12700">
            <a:solidFill>
              <a:srgbClr val="FF3A3A"/>
            </a:solidFill>
            <a:prstDash val="solid"/>
          </a:ln>
        </p:spPr>
        <p:txBody>
          <a:bodyPr/>
          <a:lstStyle/>
          <a:p>
            <a:endParaRPr lang="en-US"/>
          </a:p>
        </p:txBody>
      </p:sp>
      <p:sp>
        <p:nvSpPr>
          <p:cNvPr id="11" name="Text 9"/>
          <p:cNvSpPr/>
          <p:nvPr/>
        </p:nvSpPr>
        <p:spPr>
          <a:xfrm>
            <a:off x="6583680" y="2148840"/>
            <a:ext cx="4480560" cy="411480"/>
          </a:xfrm>
          <a:prstGeom prst="rect">
            <a:avLst/>
          </a:prstGeom>
          <a:noFill/>
          <a:ln/>
        </p:spPr>
        <p:txBody>
          <a:bodyPr wrap="square" lIns="0" tIns="0" rIns="0" bIns="0" rtlCol="0" anchor="ctr"/>
          <a:lstStyle/>
          <a:p>
            <a:pPr marL="0" indent="0">
              <a:buNone/>
            </a:pPr>
            <a:r>
              <a:rPr lang="en-US" sz="1700" b="1" dirty="0">
                <a:solidFill>
                  <a:srgbClr val="FF3A3A"/>
                </a:solidFill>
                <a:latin typeface="Courier New" pitchFamily="34" charset="0"/>
                <a:ea typeface="Courier New" pitchFamily="34" charset="-122"/>
                <a:cs typeface="Courier New" pitchFamily="34" charset="-120"/>
              </a:rPr>
              <a:t>NOT OR LOWER COMPENSABLE</a:t>
            </a:r>
            <a:endParaRPr lang="en-US" sz="1700" dirty="0"/>
          </a:p>
        </p:txBody>
      </p:sp>
      <p:sp>
        <p:nvSpPr>
          <p:cNvPr id="12" name="Text 10"/>
          <p:cNvSpPr/>
          <p:nvPr/>
        </p:nvSpPr>
        <p:spPr>
          <a:xfrm>
            <a:off x="6583680" y="2697480"/>
            <a:ext cx="4480560" cy="1828800"/>
          </a:xfrm>
          <a:prstGeom prst="rect">
            <a:avLst/>
          </a:prstGeom>
          <a:noFill/>
          <a:ln/>
        </p:spPr>
        <p:txBody>
          <a:bodyPr wrap="square" lIns="0" tIns="0" rIns="0" bIns="0" rtlCol="0" anchor="ctr"/>
          <a:lstStyle/>
          <a:p>
            <a:pPr marL="0" indent="0">
              <a:buNone/>
            </a:pPr>
            <a:r>
              <a:rPr lang="en-US" sz="1500" dirty="0">
                <a:solidFill>
                  <a:srgbClr val="C8C8C8"/>
                </a:solidFill>
                <a:latin typeface="Courier New" pitchFamily="34" charset="0"/>
                <a:ea typeface="Courier New" pitchFamily="34" charset="-122"/>
                <a:cs typeface="Courier New" pitchFamily="34" charset="-120"/>
              </a:rPr>
              <a:t>Credit freezes, password changes, hold music - anything any affected person could do.</a:t>
            </a:r>
            <a:endParaRPr lang="en-US" sz="1500" dirty="0"/>
          </a:p>
          <a:p>
            <a:pPr marL="0" indent="0">
              <a:buNone/>
            </a:pPr>
            <a:endParaRPr lang="en-US" sz="1500" dirty="0"/>
          </a:p>
          <a:p>
            <a:pPr marL="0" indent="0">
              <a:buNone/>
            </a:pPr>
            <a:r>
              <a:rPr lang="en-US" sz="1500" dirty="0">
                <a:solidFill>
                  <a:srgbClr val="C8C8C8"/>
                </a:solidFill>
                <a:latin typeface="Courier New" pitchFamily="34" charset="0"/>
                <a:ea typeface="Courier New" pitchFamily="34" charset="-122"/>
                <a:cs typeface="Courier New" pitchFamily="34" charset="-120"/>
              </a:rPr>
              <a:t>The judge draws this line. Plan for it.</a:t>
            </a:r>
            <a:endParaRPr lang="en-US" sz="1500" dirty="0"/>
          </a:p>
        </p:txBody>
      </p:sp>
      <p:sp>
        <p:nvSpPr>
          <p:cNvPr id="13" name="Text 11"/>
          <p:cNvSpPr/>
          <p:nvPr/>
        </p:nvSpPr>
        <p:spPr>
          <a:xfrm>
            <a:off x="723900" y="4892040"/>
            <a:ext cx="10797540" cy="1463040"/>
          </a:xfrm>
          <a:prstGeom prst="rect">
            <a:avLst/>
          </a:prstGeom>
          <a:noFill/>
          <a:ln/>
        </p:spPr>
        <p:txBody>
          <a:bodyPr wrap="square" lIns="0" tIns="0" rIns="0" bIns="0" rtlCol="0" anchor="ctr"/>
          <a:lstStyle/>
          <a:p>
            <a:pPr marL="0" indent="0">
              <a:buNone/>
            </a:pPr>
            <a:r>
              <a:rPr lang="en-US" sz="1600" dirty="0">
                <a:solidFill>
                  <a:srgbClr val="FFB300"/>
                </a:solidFill>
                <a:latin typeface="Courier New" pitchFamily="34" charset="0"/>
                <a:ea typeface="Courier New" pitchFamily="34" charset="-122"/>
                <a:cs typeface="Courier New" pitchFamily="34" charset="-120"/>
              </a:rPr>
              <a:t>Your time log must delineate the expert tasks versus routine tasks from day one, or watch your claim get trimmed on the bench.</a:t>
            </a:r>
          </a:p>
          <a:p>
            <a:pPr marL="0" indent="0">
              <a:buNone/>
            </a:pPr>
            <a:endParaRPr lang="en-US" sz="1600" dirty="0">
              <a:solidFill>
                <a:srgbClr val="FFB300"/>
              </a:solidFill>
              <a:latin typeface="Courier New" pitchFamily="34" charset="0"/>
              <a:cs typeface="Courier New" pitchFamily="34" charset="-120"/>
            </a:endParaRPr>
          </a:p>
          <a:p>
            <a:pPr marL="0" indent="0">
              <a:buNone/>
            </a:pPr>
            <a:r>
              <a:rPr lang="en-US" sz="1600" dirty="0">
                <a:solidFill>
                  <a:srgbClr val="FFB300"/>
                </a:solidFill>
                <a:latin typeface="Courier New" pitchFamily="34" charset="0"/>
                <a:cs typeface="Courier New" pitchFamily="34" charset="-120"/>
              </a:rPr>
              <a:t>You CAN add in a nominal amount ($25/</a:t>
            </a:r>
            <a:r>
              <a:rPr lang="en-US" sz="1600" dirty="0" err="1">
                <a:solidFill>
                  <a:srgbClr val="FFB300"/>
                </a:solidFill>
                <a:latin typeface="Courier New" pitchFamily="34" charset="0"/>
                <a:cs typeface="Courier New" pitchFamily="34" charset="-120"/>
              </a:rPr>
              <a:t>hr</a:t>
            </a:r>
            <a:r>
              <a:rPr lang="en-US" sz="1600" dirty="0">
                <a:solidFill>
                  <a:srgbClr val="FFB300"/>
                </a:solidFill>
                <a:latin typeface="Courier New" pitchFamily="34" charset="0"/>
                <a:cs typeface="Courier New" pitchFamily="34" charset="-120"/>
              </a:rPr>
              <a:t>) for what a standard person would be compensated for Credit Freezes/Password Changes, </a:t>
            </a:r>
            <a:r>
              <a:rPr lang="en-US" sz="1600" dirty="0" err="1">
                <a:solidFill>
                  <a:srgbClr val="FFB300"/>
                </a:solidFill>
                <a:latin typeface="Courier New" pitchFamily="34" charset="0"/>
                <a:cs typeface="Courier New" pitchFamily="34" charset="-120"/>
              </a:rPr>
              <a:t>Etc</a:t>
            </a:r>
            <a:r>
              <a:rPr lang="en-US" sz="1600" dirty="0">
                <a:solidFill>
                  <a:srgbClr val="FFB300"/>
                </a:solidFill>
                <a:latin typeface="Courier New" pitchFamily="34" charset="0"/>
                <a:cs typeface="Courier New" pitchFamily="34" charset="-120"/>
              </a:rPr>
              <a:t>, the judge may or may not allow it.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15</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THE VERDICT</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Shape 4"/>
          <p:cNvSpPr/>
          <p:nvPr/>
        </p:nvSpPr>
        <p:spPr>
          <a:xfrm>
            <a:off x="1463040" y="1371600"/>
            <a:ext cx="9235440" cy="3108960"/>
          </a:xfrm>
          <a:prstGeom prst="rect">
            <a:avLst/>
          </a:prstGeom>
          <a:solidFill>
            <a:srgbClr val="111111"/>
          </a:solidFill>
          <a:ln w="19050">
            <a:solidFill>
              <a:srgbClr val="39FF14"/>
            </a:solidFill>
            <a:prstDash val="solid"/>
          </a:ln>
        </p:spPr>
        <p:txBody>
          <a:bodyPr/>
          <a:lstStyle/>
          <a:p>
            <a:endParaRPr lang="en-US"/>
          </a:p>
        </p:txBody>
      </p:sp>
      <p:sp>
        <p:nvSpPr>
          <p:cNvPr id="7" name="Text 5"/>
          <p:cNvSpPr/>
          <p:nvPr/>
        </p:nvSpPr>
        <p:spPr>
          <a:xfrm>
            <a:off x="1463040" y="1600200"/>
            <a:ext cx="9235440" cy="548640"/>
          </a:xfrm>
          <a:prstGeom prst="rect">
            <a:avLst/>
          </a:prstGeom>
          <a:noFill/>
          <a:ln/>
        </p:spPr>
        <p:txBody>
          <a:bodyPr wrap="square" lIns="0" tIns="0" rIns="0" bIns="0" rtlCol="0" anchor="ctr"/>
          <a:lstStyle/>
          <a:p>
            <a:pPr marL="0" indent="0" algn="ctr">
              <a:buNone/>
            </a:pPr>
            <a:r>
              <a:rPr lang="en-US" sz="2800" b="1" kern="0" spc="200" dirty="0">
                <a:solidFill>
                  <a:srgbClr val="39FF14"/>
                </a:solidFill>
                <a:latin typeface="Courier New" pitchFamily="34" charset="0"/>
                <a:ea typeface="Courier New" pitchFamily="34" charset="-122"/>
                <a:cs typeface="Courier New" pitchFamily="34" charset="-120"/>
              </a:rPr>
              <a:t>JUDGMENT FOR PLAINTIFF</a:t>
            </a:r>
            <a:endParaRPr lang="en-US" sz="2800" dirty="0"/>
          </a:p>
        </p:txBody>
      </p:sp>
      <p:sp>
        <p:nvSpPr>
          <p:cNvPr id="8" name="Text 6"/>
          <p:cNvSpPr/>
          <p:nvPr/>
        </p:nvSpPr>
        <p:spPr>
          <a:xfrm>
            <a:off x="1463040" y="2331720"/>
            <a:ext cx="9235440" cy="640080"/>
          </a:xfrm>
          <a:prstGeom prst="rect">
            <a:avLst/>
          </a:prstGeom>
          <a:noFill/>
          <a:ln/>
        </p:spPr>
        <p:txBody>
          <a:bodyPr wrap="square" lIns="0" tIns="0" rIns="0" bIns="0" rtlCol="0" anchor="ctr"/>
          <a:lstStyle/>
          <a:p>
            <a:pPr marL="0" indent="0" algn="ctr">
              <a:buNone/>
            </a:pPr>
            <a:r>
              <a:rPr lang="en-US" sz="2600" b="1" dirty="0">
                <a:solidFill>
                  <a:srgbClr val="F0F0F0"/>
                </a:solidFill>
                <a:latin typeface="Courier New" pitchFamily="34" charset="0"/>
                <a:ea typeface="Courier New" pitchFamily="34" charset="-122"/>
                <a:cs typeface="Courier New" pitchFamily="34" charset="-120"/>
              </a:rPr>
              <a:t>$300</a:t>
            </a:r>
            <a:r>
              <a:rPr lang="en-US" sz="2600" dirty="0">
                <a:solidFill>
                  <a:srgbClr val="C8C8C8"/>
                </a:solidFill>
                <a:latin typeface="Courier New" pitchFamily="34" charset="0"/>
                <a:ea typeface="Courier New" pitchFamily="34" charset="-122"/>
                <a:cs typeface="Courier New" pitchFamily="34" charset="-120"/>
              </a:rPr>
              <a:t> principal  +  </a:t>
            </a:r>
            <a:r>
              <a:rPr lang="en-US" sz="2600" b="1" dirty="0">
                <a:solidFill>
                  <a:srgbClr val="F0F0F0"/>
                </a:solidFill>
                <a:latin typeface="Courier New" pitchFamily="34" charset="0"/>
                <a:ea typeface="Courier New" pitchFamily="34" charset="-122"/>
                <a:cs typeface="Courier New" pitchFamily="34" charset="-120"/>
              </a:rPr>
              <a:t>$50</a:t>
            </a:r>
            <a:r>
              <a:rPr lang="en-US" sz="2600" dirty="0">
                <a:solidFill>
                  <a:srgbClr val="C8C8C8"/>
                </a:solidFill>
                <a:latin typeface="Courier New" pitchFamily="34" charset="0"/>
                <a:ea typeface="Courier New" pitchFamily="34" charset="-122"/>
                <a:cs typeface="Courier New" pitchFamily="34" charset="-120"/>
              </a:rPr>
              <a:t> filing fee  =  </a:t>
            </a:r>
            <a:r>
              <a:rPr lang="en-US" sz="2600" b="1" dirty="0">
                <a:solidFill>
                  <a:srgbClr val="39FF14"/>
                </a:solidFill>
                <a:latin typeface="Courier New" pitchFamily="34" charset="0"/>
                <a:ea typeface="Courier New" pitchFamily="34" charset="-122"/>
                <a:cs typeface="Courier New" pitchFamily="34" charset="-120"/>
              </a:rPr>
              <a:t>$350</a:t>
            </a:r>
            <a:endParaRPr lang="en-US" sz="2600" dirty="0"/>
          </a:p>
        </p:txBody>
      </p:sp>
      <p:sp>
        <p:nvSpPr>
          <p:cNvPr id="9" name="Text 7"/>
          <p:cNvSpPr/>
          <p:nvPr/>
        </p:nvSpPr>
        <p:spPr>
          <a:xfrm>
            <a:off x="1463040" y="3108960"/>
            <a:ext cx="9235440" cy="457200"/>
          </a:xfrm>
          <a:prstGeom prst="rect">
            <a:avLst/>
          </a:prstGeom>
          <a:noFill/>
          <a:ln/>
        </p:spPr>
        <p:txBody>
          <a:bodyPr wrap="square" lIns="0" tIns="0" rIns="0" bIns="0" rtlCol="0" anchor="ctr"/>
          <a:lstStyle/>
          <a:p>
            <a:pPr marL="0" indent="0" algn="ctr">
              <a:buNone/>
            </a:pPr>
            <a:r>
              <a:rPr lang="en-US" sz="1600" dirty="0">
                <a:solidFill>
                  <a:srgbClr val="C8C8C8"/>
                </a:solidFill>
                <a:latin typeface="Courier New" pitchFamily="34" charset="0"/>
                <a:ea typeface="Courier New" pitchFamily="34" charset="-122"/>
                <a:cs typeface="Courier New" pitchFamily="34" charset="-120"/>
              </a:rPr>
              <a:t>Paid within 30 days. Check cashed. Satisfaction of Judgment filed.</a:t>
            </a:r>
            <a:endParaRPr lang="en-US" sz="1600" dirty="0"/>
          </a:p>
        </p:txBody>
      </p:sp>
      <p:sp>
        <p:nvSpPr>
          <p:cNvPr id="10" name="Text 8"/>
          <p:cNvSpPr/>
          <p:nvPr/>
        </p:nvSpPr>
        <p:spPr>
          <a:xfrm>
            <a:off x="1463040" y="3703320"/>
            <a:ext cx="9235440" cy="777240"/>
          </a:xfrm>
          <a:prstGeom prst="rect">
            <a:avLst/>
          </a:prstGeom>
          <a:noFill/>
          <a:ln/>
        </p:spPr>
        <p:txBody>
          <a:bodyPr wrap="square" lIns="0" tIns="0" rIns="0" bIns="0" rtlCol="0" anchor="ctr"/>
          <a:lstStyle/>
          <a:p>
            <a:pPr marL="0" indent="0" algn="ctr">
              <a:buNone/>
            </a:pPr>
            <a:r>
              <a:rPr lang="en-US" sz="1600" b="1" dirty="0">
                <a:solidFill>
                  <a:srgbClr val="FFB300"/>
                </a:solidFill>
                <a:latin typeface="Courier New" pitchFamily="34" charset="0"/>
                <a:ea typeface="Courier New" pitchFamily="34" charset="-122"/>
                <a:cs typeface="Courier New" pitchFamily="34" charset="-120"/>
              </a:rPr>
              <a:t>PBI didn't appeal, paid, Satisfaction of Judgment filed → FINAL.</a:t>
            </a:r>
          </a:p>
          <a:p>
            <a:pPr algn="ctr"/>
            <a:r>
              <a:rPr lang="en-US" sz="1600" i="1" dirty="0">
                <a:solidFill>
                  <a:srgbClr val="FFB300"/>
                </a:solidFill>
                <a:latin typeface="Courier New" pitchFamily="34" charset="0"/>
                <a:ea typeface="Courier New" pitchFamily="34" charset="-122"/>
                <a:cs typeface="Courier New" pitchFamily="34" charset="-120"/>
              </a:rPr>
              <a:t>Class actions pay lawyers. Small claims pays you.</a:t>
            </a:r>
            <a:endParaRPr lang="en-US" sz="1600" dirty="0"/>
          </a:p>
          <a:p>
            <a:pPr marL="0" indent="0" algn="ctr">
              <a:buNone/>
            </a:pPr>
            <a:endParaRPr lang="en-US" sz="1600" dirty="0"/>
          </a:p>
        </p:txBody>
      </p:sp>
      <p:sp>
        <p:nvSpPr>
          <p:cNvPr id="11" name="Text 9"/>
          <p:cNvSpPr/>
          <p:nvPr/>
        </p:nvSpPr>
        <p:spPr>
          <a:xfrm>
            <a:off x="365760" y="4937760"/>
            <a:ext cx="11365992" cy="914400"/>
          </a:xfrm>
          <a:prstGeom prst="rect">
            <a:avLst/>
          </a:prstGeom>
          <a:noFill/>
          <a:ln/>
        </p:spPr>
        <p:txBody>
          <a:bodyPr wrap="square" lIns="0" tIns="0" rIns="0" bIns="0" rtlCol="0" anchor="ctr"/>
          <a:lstStyle/>
          <a:p>
            <a:pPr marL="0" indent="0" algn="ctr">
              <a:buNone/>
            </a:pPr>
            <a:r>
              <a:rPr lang="en-US" sz="1700" i="1" dirty="0">
                <a:solidFill>
                  <a:srgbClr val="C8C8C8"/>
                </a:solidFill>
                <a:latin typeface="Courier New" pitchFamily="34" charset="0"/>
                <a:ea typeface="Courier New" pitchFamily="34" charset="-122"/>
                <a:cs typeface="Courier New" pitchFamily="34" charset="-120"/>
              </a:rPr>
              <a:t>Not about the $350. It is about the invoice landing on their general counsel's desk -</a:t>
            </a:r>
            <a:endParaRPr lang="en-US" sz="1700" dirty="0"/>
          </a:p>
          <a:p>
            <a:pPr marL="0" indent="0" algn="ctr">
              <a:buNone/>
            </a:pPr>
            <a:r>
              <a:rPr lang="en-US" sz="1700" i="1" dirty="0">
                <a:solidFill>
                  <a:srgbClr val="C8C8C8"/>
                </a:solidFill>
                <a:latin typeface="Courier New" pitchFamily="34" charset="0"/>
                <a:ea typeface="Courier New" pitchFamily="34" charset="-122"/>
                <a:cs typeface="Courier New" pitchFamily="34" charset="-120"/>
              </a:rPr>
              <a:t>and the 18,855 other Washingtonians who could send one too.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457200" y="6446520"/>
            <a:ext cx="5486400" cy="274320"/>
          </a:xfrm>
          <a:prstGeom prst="rect">
            <a:avLst/>
          </a:prstGeom>
          <a:noFill/>
          <a:ln/>
        </p:spPr>
        <p:txBody>
          <a:bodyPr wrap="square" lIns="0" tIns="0" rIns="0" bIns="0" rtlCol="0" anchor="ctr"/>
          <a:lstStyle/>
          <a:p>
            <a:r>
              <a:rPr lang="en-US" sz="1000" dirty="0">
                <a:solidFill>
                  <a:srgbClr val="8A8A8A"/>
                </a:solidFill>
                <a:latin typeface="Courier New" pitchFamily="34" charset="0"/>
                <a:ea typeface="Courier New" pitchFamily="34" charset="-122"/>
                <a:cs typeface="Courier New" pitchFamily="34" charset="-120"/>
              </a:rPr>
              <a:t>25CIV60102KCX - King County District Court	Slide 16</a:t>
            </a:r>
            <a:endParaRPr lang="en-US" sz="1000" dirty="0"/>
          </a:p>
        </p:txBody>
      </p:sp>
      <p:sp>
        <p:nvSpPr>
          <p:cNvPr id="3" name="Text 1"/>
          <p:cNvSpPr/>
          <p:nvPr/>
        </p:nvSpPr>
        <p:spPr>
          <a:xfrm>
            <a:off x="6245352" y="6446520"/>
            <a:ext cx="5486400" cy="274320"/>
          </a:xfrm>
          <a:prstGeom prst="rect">
            <a:avLst/>
          </a:prstGeom>
          <a:noFill/>
          <a:ln/>
        </p:spPr>
        <p:txBody>
          <a:bodyPr wrap="square" lIns="0" tIns="0" rIns="0" bIns="0" rtlCol="0" anchor="ctr"/>
          <a:lstStyle/>
          <a:p>
            <a:pPr marL="0" indent="0" algn="r">
              <a:buNone/>
            </a:pPr>
            <a:r>
              <a:rPr lang="en-US" sz="1000" dirty="0">
                <a:solidFill>
                  <a:srgbClr val="8A8A8A"/>
                </a:solidFill>
                <a:latin typeface="Courier New" pitchFamily="34" charset="0"/>
                <a:ea typeface="Courier New" pitchFamily="34" charset="-122"/>
                <a:cs typeface="Courier New" pitchFamily="34" charset="-120"/>
              </a:rPr>
              <a:t>gandalfddi.github.io/pbibreach.html</a:t>
            </a:r>
            <a:endParaRPr lang="en-US" sz="1000" dirty="0"/>
          </a:p>
        </p:txBody>
      </p:sp>
      <p:sp>
        <p:nvSpPr>
          <p:cNvPr id="4" name="Text 2"/>
          <p:cNvSpPr/>
          <p:nvPr/>
        </p:nvSpPr>
        <p:spPr>
          <a:xfrm>
            <a:off x="548640" y="411480"/>
            <a:ext cx="10972800" cy="320040"/>
          </a:xfrm>
          <a:prstGeom prst="rect">
            <a:avLst/>
          </a:prstGeom>
          <a:noFill/>
          <a:ln/>
        </p:spPr>
        <p:txBody>
          <a:bodyPr wrap="square" lIns="0" tIns="0" rIns="0" bIns="0" rtlCol="0" anchor="ctr"/>
          <a:lstStyle/>
          <a:p>
            <a:pPr marL="0" indent="0">
              <a:buNone/>
            </a:pPr>
            <a:r>
              <a:rPr lang="en-US" sz="1300" b="1" kern="0" spc="300" dirty="0">
                <a:solidFill>
                  <a:srgbClr val="FFB300"/>
                </a:solidFill>
                <a:latin typeface="Courier New" pitchFamily="34" charset="0"/>
                <a:ea typeface="Courier New" pitchFamily="34" charset="-122"/>
                <a:cs typeface="Courier New" pitchFamily="34" charset="-120"/>
              </a:rPr>
              <a:t>▶ WHAT YOU LEAVE WITH</a:t>
            </a:r>
            <a:endParaRPr lang="en-US" sz="1300" dirty="0"/>
          </a:p>
        </p:txBody>
      </p:sp>
      <p:sp>
        <p:nvSpPr>
          <p:cNvPr id="5" name="Shape 3"/>
          <p:cNvSpPr/>
          <p:nvPr/>
        </p:nvSpPr>
        <p:spPr>
          <a:xfrm>
            <a:off x="548640" y="804672"/>
            <a:ext cx="11091672" cy="0"/>
          </a:xfrm>
          <a:prstGeom prst="line">
            <a:avLst/>
          </a:prstGeom>
          <a:noFill/>
          <a:ln w="9525">
            <a:solidFill>
              <a:srgbClr val="7A5500"/>
            </a:solidFill>
            <a:prstDash val="solid"/>
          </a:ln>
        </p:spPr>
        <p:txBody>
          <a:bodyPr/>
          <a:lstStyle/>
          <a:p>
            <a:endParaRPr lang="en-US"/>
          </a:p>
        </p:txBody>
      </p:sp>
      <p:sp>
        <p:nvSpPr>
          <p:cNvPr id="6" name="Text 4"/>
          <p:cNvSpPr/>
          <p:nvPr/>
        </p:nvSpPr>
        <p:spPr>
          <a:xfrm>
            <a:off x="548640" y="960120"/>
            <a:ext cx="11091672" cy="731520"/>
          </a:xfrm>
          <a:prstGeom prst="rect">
            <a:avLst/>
          </a:prstGeom>
          <a:noFill/>
          <a:ln/>
        </p:spPr>
        <p:txBody>
          <a:bodyPr wrap="square" lIns="0" tIns="0" rIns="0" bIns="0" rtlCol="0" anchor="ctr"/>
          <a:lstStyle/>
          <a:p>
            <a:pPr marL="0" indent="0" algn="l">
              <a:buNone/>
            </a:pPr>
            <a:r>
              <a:rPr lang="en-US" sz="3000" b="1" dirty="0">
                <a:solidFill>
                  <a:srgbClr val="F0F0F0"/>
                </a:solidFill>
                <a:latin typeface="Courier New" pitchFamily="34" charset="0"/>
                <a:ea typeface="Courier New" pitchFamily="34" charset="-122"/>
                <a:cs typeface="Courier New" pitchFamily="34" charset="-120"/>
              </a:rPr>
              <a:t>The barrier is never lawyers.</a:t>
            </a:r>
            <a:endParaRPr lang="en-US" sz="3000" dirty="0"/>
          </a:p>
        </p:txBody>
      </p:sp>
      <p:sp>
        <p:nvSpPr>
          <p:cNvPr id="7" name="Text 5"/>
          <p:cNvSpPr/>
          <p:nvPr/>
        </p:nvSpPr>
        <p:spPr>
          <a:xfrm>
            <a:off x="822960" y="2011680"/>
            <a:ext cx="10607040" cy="548640"/>
          </a:xfrm>
          <a:prstGeom prst="rect">
            <a:avLst/>
          </a:prstGeom>
          <a:noFill/>
          <a:ln/>
        </p:spPr>
        <p:txBody>
          <a:bodyPr wrap="square" lIns="0" tIns="0" rIns="0" bIns="0" rtlCol="0" anchor="ctr"/>
          <a:lstStyle/>
          <a:p>
            <a:r>
              <a:rPr lang="en-US" sz="1800" dirty="0">
                <a:solidFill>
                  <a:srgbClr val="39FF14"/>
                </a:solidFill>
                <a:latin typeface="Courier New" pitchFamily="34" charset="0"/>
                <a:ea typeface="Courier New" pitchFamily="34" charset="-122"/>
                <a:cs typeface="Courier New" pitchFamily="34" charset="-120"/>
              </a:rPr>
              <a:t>› </a:t>
            </a:r>
            <a:r>
              <a:rPr lang="en-US" sz="1800" b="1" dirty="0">
                <a:solidFill>
                  <a:srgbClr val="FFB300"/>
                </a:solidFill>
                <a:latin typeface="Courier New" pitchFamily="34" charset="0"/>
                <a:ea typeface="Courier New" pitchFamily="34" charset="-122"/>
                <a:cs typeface="Courier New" pitchFamily="34" charset="-120"/>
              </a:rPr>
              <a:t>The barrier is documentation discipline - a skill this room already has.</a:t>
            </a:r>
            <a:br>
              <a:rPr lang="en-US" sz="1800" b="1" dirty="0">
                <a:solidFill>
                  <a:srgbClr val="FFB300"/>
                </a:solidFill>
                <a:latin typeface="Courier New" pitchFamily="34" charset="0"/>
                <a:ea typeface="Courier New" pitchFamily="34" charset="-122"/>
                <a:cs typeface="Courier New" pitchFamily="34" charset="-120"/>
              </a:rPr>
            </a:br>
            <a:r>
              <a:rPr lang="en-US" sz="1800" b="1" dirty="0">
                <a:solidFill>
                  <a:srgbClr val="FFB300"/>
                </a:solidFill>
                <a:latin typeface="Courier New" pitchFamily="34" charset="0"/>
                <a:ea typeface="Courier New" pitchFamily="34" charset="-122"/>
                <a:cs typeface="Courier New" pitchFamily="34" charset="-120"/>
              </a:rPr>
              <a:t> </a:t>
            </a:r>
            <a:r>
              <a:rPr lang="en-US" dirty="0">
                <a:solidFill>
                  <a:srgbClr val="C8C8C8"/>
                </a:solidFill>
                <a:latin typeface="Courier New" pitchFamily="34" charset="0"/>
                <a:ea typeface="Courier New" pitchFamily="34" charset="-122"/>
                <a:cs typeface="Courier New" pitchFamily="34" charset="-120"/>
              </a:rPr>
              <a:t> (And you KNOW you started investigating the breach the minute you got</a:t>
            </a:r>
            <a:br>
              <a:rPr lang="en-US" dirty="0">
                <a:solidFill>
                  <a:srgbClr val="C8C8C8"/>
                </a:solidFill>
                <a:latin typeface="Courier New" pitchFamily="34" charset="0"/>
                <a:ea typeface="Courier New" pitchFamily="34" charset="-122"/>
                <a:cs typeface="Courier New" pitchFamily="34" charset="-120"/>
              </a:rPr>
            </a:br>
            <a:r>
              <a:rPr lang="en-US" dirty="0">
                <a:solidFill>
                  <a:srgbClr val="C8C8C8"/>
                </a:solidFill>
                <a:latin typeface="Courier New" pitchFamily="34" charset="0"/>
                <a:ea typeface="Courier New" pitchFamily="34" charset="-122"/>
                <a:cs typeface="Courier New" pitchFamily="34" charset="-120"/>
              </a:rPr>
              <a:t>   the letter </a:t>
            </a:r>
            <a:r>
              <a:rPr lang="en-US" dirty="0">
                <a:solidFill>
                  <a:srgbClr val="C8C8C8"/>
                </a:solidFill>
                <a:latin typeface="Courier New" pitchFamily="34" charset="0"/>
                <a:ea typeface="Courier New" pitchFamily="34" charset="-122"/>
                <a:cs typeface="Courier New" pitchFamily="34" charset="-120"/>
                <a:sym typeface="Wingdings" panose="05000000000000000000" pitchFamily="2" charset="2"/>
              </a:rPr>
              <a:t>)</a:t>
            </a:r>
            <a:endParaRPr lang="en-US" sz="1800" dirty="0"/>
          </a:p>
        </p:txBody>
      </p:sp>
      <p:sp>
        <p:nvSpPr>
          <p:cNvPr id="8" name="Text 6"/>
          <p:cNvSpPr/>
          <p:nvPr/>
        </p:nvSpPr>
        <p:spPr>
          <a:xfrm>
            <a:off x="822960" y="2877312"/>
            <a:ext cx="10607040" cy="548640"/>
          </a:xfrm>
          <a:prstGeom prst="rect">
            <a:avLst/>
          </a:prstGeom>
          <a:noFill/>
          <a:ln/>
        </p:spPr>
        <p:txBody>
          <a:bodyPr wrap="square" lIns="0" tIns="0" rIns="0" bIns="0" rtlCol="0" anchor="ctr"/>
          <a:lstStyle/>
          <a:p>
            <a:pPr marL="0" indent="0">
              <a:buNone/>
            </a:pPr>
            <a:r>
              <a:rPr lang="en-US" sz="1800" dirty="0">
                <a:solidFill>
                  <a:srgbClr val="39FF14"/>
                </a:solidFill>
                <a:latin typeface="Courier New" pitchFamily="34" charset="0"/>
                <a:ea typeface="Courier New" pitchFamily="34" charset="-122"/>
                <a:cs typeface="Courier New" pitchFamily="34" charset="-120"/>
              </a:rPr>
              <a:t>› </a:t>
            </a:r>
            <a:r>
              <a:rPr lang="en-US" sz="1800" dirty="0">
                <a:solidFill>
                  <a:srgbClr val="C8C8C8"/>
                </a:solidFill>
                <a:latin typeface="Courier New" pitchFamily="34" charset="0"/>
                <a:ea typeface="Courier New" pitchFamily="34" charset="-122"/>
                <a:cs typeface="Courier New" pitchFamily="34" charset="-120"/>
              </a:rPr>
              <a:t>Entity-identification workflow that names the right defendant.</a:t>
            </a:r>
            <a:endParaRPr lang="en-US" sz="1800" dirty="0"/>
          </a:p>
        </p:txBody>
      </p:sp>
      <p:sp>
        <p:nvSpPr>
          <p:cNvPr id="9" name="Text 7"/>
          <p:cNvSpPr/>
          <p:nvPr/>
        </p:nvSpPr>
        <p:spPr>
          <a:xfrm>
            <a:off x="822960" y="3590544"/>
            <a:ext cx="10607040" cy="548640"/>
          </a:xfrm>
          <a:prstGeom prst="rect">
            <a:avLst/>
          </a:prstGeom>
          <a:noFill/>
          <a:ln/>
        </p:spPr>
        <p:txBody>
          <a:bodyPr wrap="square" lIns="0" tIns="0" rIns="0" bIns="0" rtlCol="0" anchor="ctr"/>
          <a:lstStyle/>
          <a:p>
            <a:pPr marL="0" indent="0">
              <a:buNone/>
            </a:pPr>
            <a:r>
              <a:rPr lang="en-US" sz="1800" dirty="0">
                <a:solidFill>
                  <a:srgbClr val="39FF14"/>
                </a:solidFill>
                <a:latin typeface="Courier New" pitchFamily="34" charset="0"/>
                <a:ea typeface="Courier New" pitchFamily="34" charset="-122"/>
                <a:cs typeface="Courier New" pitchFamily="34" charset="-120"/>
              </a:rPr>
              <a:t>› </a:t>
            </a:r>
            <a:r>
              <a:rPr lang="en-US" sz="1800" dirty="0">
                <a:solidFill>
                  <a:srgbClr val="C8C8C8"/>
                </a:solidFill>
                <a:latin typeface="Courier New" pitchFamily="34" charset="0"/>
                <a:ea typeface="Courier New" pitchFamily="34" charset="-122"/>
                <a:cs typeface="Courier New" pitchFamily="34" charset="-120"/>
              </a:rPr>
              <a:t>A time-log and rate-basis structure that survived trial.</a:t>
            </a:r>
            <a:endParaRPr lang="en-US" sz="1800" dirty="0"/>
          </a:p>
        </p:txBody>
      </p:sp>
      <p:sp>
        <p:nvSpPr>
          <p:cNvPr id="10" name="Text 8"/>
          <p:cNvSpPr/>
          <p:nvPr/>
        </p:nvSpPr>
        <p:spPr>
          <a:xfrm>
            <a:off x="822960" y="4303776"/>
            <a:ext cx="10607040" cy="548640"/>
          </a:xfrm>
          <a:prstGeom prst="rect">
            <a:avLst/>
          </a:prstGeom>
          <a:noFill/>
          <a:ln/>
        </p:spPr>
        <p:txBody>
          <a:bodyPr wrap="square" lIns="0" tIns="0" rIns="0" bIns="0" rtlCol="0" anchor="ctr"/>
          <a:lstStyle/>
          <a:p>
            <a:pPr marL="0" indent="0">
              <a:buNone/>
            </a:pPr>
            <a:r>
              <a:rPr lang="en-US" sz="1800" dirty="0">
                <a:solidFill>
                  <a:srgbClr val="39FF14"/>
                </a:solidFill>
                <a:latin typeface="Courier New" pitchFamily="34" charset="0"/>
                <a:ea typeface="Courier New" pitchFamily="34" charset="-122"/>
                <a:cs typeface="Courier New" pitchFamily="34" charset="-120"/>
              </a:rPr>
              <a:t>› </a:t>
            </a:r>
            <a:r>
              <a:rPr lang="en-US" sz="1800" dirty="0">
                <a:solidFill>
                  <a:srgbClr val="C8C8C8"/>
                </a:solidFill>
                <a:latin typeface="Courier New" pitchFamily="34" charset="0"/>
                <a:ea typeface="Courier New" pitchFamily="34" charset="-122"/>
                <a:cs typeface="Courier New" pitchFamily="34" charset="-120"/>
              </a:rPr>
              <a:t>The service-of-process gotchas that kill cases.</a:t>
            </a:r>
            <a:endParaRPr lang="en-US" sz="1800" dirty="0"/>
          </a:p>
        </p:txBody>
      </p:sp>
      <p:sp>
        <p:nvSpPr>
          <p:cNvPr id="11" name="Text 9"/>
          <p:cNvSpPr/>
          <p:nvPr/>
        </p:nvSpPr>
        <p:spPr>
          <a:xfrm>
            <a:off x="822960" y="5017008"/>
            <a:ext cx="10607040" cy="548640"/>
          </a:xfrm>
          <a:prstGeom prst="rect">
            <a:avLst/>
          </a:prstGeom>
          <a:noFill/>
          <a:ln/>
        </p:spPr>
        <p:txBody>
          <a:bodyPr wrap="square" lIns="0" tIns="0" rIns="0" bIns="0" rtlCol="0" anchor="ctr"/>
          <a:lstStyle/>
          <a:p>
            <a:pPr marL="0" indent="0">
              <a:buNone/>
            </a:pPr>
            <a:r>
              <a:rPr lang="en-US" sz="1800" dirty="0">
                <a:solidFill>
                  <a:srgbClr val="39FF14"/>
                </a:solidFill>
                <a:latin typeface="Courier New" pitchFamily="34" charset="0"/>
                <a:ea typeface="Courier New" pitchFamily="34" charset="-122"/>
                <a:cs typeface="Courier New" pitchFamily="34" charset="-120"/>
              </a:rPr>
              <a:t>› </a:t>
            </a:r>
            <a:r>
              <a:rPr lang="en-US" sz="1800" dirty="0">
                <a:solidFill>
                  <a:srgbClr val="C8C8C8"/>
                </a:solidFill>
                <a:latin typeface="Courier New" pitchFamily="34" charset="0"/>
                <a:ea typeface="Courier New" pitchFamily="34" charset="-122"/>
                <a:cs typeface="Courier New" pitchFamily="34" charset="-120"/>
              </a:rPr>
              <a:t>A complete 14-step list you can run this month.</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1463040" y="1005840"/>
            <a:ext cx="9235440" cy="1737360"/>
          </a:xfrm>
          <a:prstGeom prst="rect">
            <a:avLst/>
          </a:prstGeom>
          <a:solidFill>
            <a:srgbClr val="111111"/>
          </a:solidFill>
          <a:ln w="12700">
            <a:solidFill>
              <a:srgbClr val="FFB300"/>
            </a:solidFill>
            <a:prstDash val="solid"/>
          </a:ln>
        </p:spPr>
        <p:txBody>
          <a:bodyPr/>
          <a:lstStyle/>
          <a:p>
            <a:endParaRPr lang="en-US"/>
          </a:p>
        </p:txBody>
      </p:sp>
      <p:sp>
        <p:nvSpPr>
          <p:cNvPr id="3" name="Text 1"/>
          <p:cNvSpPr/>
          <p:nvPr/>
        </p:nvSpPr>
        <p:spPr>
          <a:xfrm>
            <a:off x="1645920" y="1005840"/>
            <a:ext cx="8869680" cy="1371600"/>
          </a:xfrm>
          <a:prstGeom prst="rect">
            <a:avLst/>
          </a:prstGeom>
          <a:noFill/>
          <a:ln/>
        </p:spPr>
        <p:txBody>
          <a:bodyPr wrap="square" lIns="0" tIns="0" rIns="0" bIns="0" rtlCol="0" anchor="ctr"/>
          <a:lstStyle/>
          <a:p>
            <a:pPr marL="0" indent="0" algn="ctr">
              <a:buNone/>
            </a:pPr>
            <a:r>
              <a:rPr lang="en-US" sz="1900" i="1" dirty="0">
                <a:solidFill>
                  <a:srgbClr val="FFB300"/>
                </a:solidFill>
                <a:latin typeface="Courier New" pitchFamily="34" charset="0"/>
                <a:ea typeface="Courier New" pitchFamily="34" charset="-122"/>
                <a:cs typeface="Courier New" pitchFamily="34" charset="-120"/>
              </a:rPr>
              <a:t>"Don't piss off a geek … They don't have a life and can</a:t>
            </a:r>
            <a:endParaRPr lang="en-US" sz="1900" dirty="0"/>
          </a:p>
          <a:p>
            <a:pPr marL="0" indent="0" algn="ctr">
              <a:buNone/>
            </a:pPr>
            <a:r>
              <a:rPr lang="en-US" sz="1900" i="1" dirty="0">
                <a:solidFill>
                  <a:srgbClr val="FFB300"/>
                </a:solidFill>
                <a:latin typeface="Courier New" pitchFamily="34" charset="0"/>
                <a:ea typeface="Courier New" pitchFamily="34" charset="-122"/>
                <a:cs typeface="Courier New" pitchFamily="34" charset="-120"/>
              </a:rPr>
              <a:t>EASILY make you the focus of THEIR life."</a:t>
            </a:r>
            <a:endParaRPr lang="en-US" sz="1900" dirty="0"/>
          </a:p>
        </p:txBody>
      </p:sp>
      <p:sp>
        <p:nvSpPr>
          <p:cNvPr id="4" name="Text 2"/>
          <p:cNvSpPr/>
          <p:nvPr/>
        </p:nvSpPr>
        <p:spPr>
          <a:xfrm>
            <a:off x="1645920" y="2286000"/>
            <a:ext cx="8869680" cy="365760"/>
          </a:xfrm>
          <a:prstGeom prst="rect">
            <a:avLst/>
          </a:prstGeom>
          <a:noFill/>
          <a:ln/>
        </p:spPr>
        <p:txBody>
          <a:bodyPr wrap="square" lIns="0" tIns="0" rIns="0" bIns="0" rtlCol="0" anchor="ctr"/>
          <a:lstStyle/>
          <a:p>
            <a:pPr marL="0" indent="0" algn="ctr">
              <a:buNone/>
            </a:pPr>
            <a:r>
              <a:rPr lang="en-US" sz="1300" dirty="0">
                <a:solidFill>
                  <a:srgbClr val="8A8A8A"/>
                </a:solidFill>
                <a:latin typeface="Courier New" pitchFamily="34" charset="0"/>
                <a:ea typeface="Courier New" pitchFamily="34" charset="-122"/>
                <a:cs typeface="Courier New" pitchFamily="34" charset="-120"/>
              </a:rPr>
              <a:t>- Ken Hollis</a:t>
            </a:r>
            <a:endParaRPr lang="en-US" sz="1300" dirty="0"/>
          </a:p>
        </p:txBody>
      </p:sp>
      <p:sp>
        <p:nvSpPr>
          <p:cNvPr id="5" name="Text 3"/>
          <p:cNvSpPr/>
          <p:nvPr/>
        </p:nvSpPr>
        <p:spPr>
          <a:xfrm>
            <a:off x="37967" y="2946897"/>
            <a:ext cx="10515600" cy="457200"/>
          </a:xfrm>
          <a:prstGeom prst="rect">
            <a:avLst/>
          </a:prstGeom>
          <a:noFill/>
          <a:ln/>
        </p:spPr>
        <p:txBody>
          <a:bodyPr wrap="square" lIns="0" tIns="0" rIns="0" bIns="0" rtlCol="0" anchor="ctr"/>
          <a:lstStyle/>
          <a:p>
            <a:pPr marL="0" indent="0" algn="ctr">
              <a:buNone/>
            </a:pPr>
            <a:r>
              <a:rPr lang="en-US" sz="1700" dirty="0">
                <a:solidFill>
                  <a:srgbClr val="C8C8C8"/>
                </a:solidFill>
                <a:latin typeface="Courier New" pitchFamily="34" charset="0"/>
                <a:ea typeface="Courier New" pitchFamily="34" charset="-122"/>
                <a:cs typeface="Courier New" pitchFamily="34" charset="-120"/>
              </a:rPr>
              <a:t>Everything is public record or my own work:</a:t>
            </a:r>
            <a:endParaRPr lang="en-US" sz="1700" dirty="0"/>
          </a:p>
        </p:txBody>
      </p:sp>
      <p:sp>
        <p:nvSpPr>
          <p:cNvPr id="6" name="Text 4"/>
          <p:cNvSpPr/>
          <p:nvPr/>
        </p:nvSpPr>
        <p:spPr>
          <a:xfrm>
            <a:off x="37967" y="3449817"/>
            <a:ext cx="10515600" cy="640080"/>
          </a:xfrm>
          <a:prstGeom prst="rect">
            <a:avLst/>
          </a:prstGeom>
          <a:noFill/>
          <a:ln/>
        </p:spPr>
        <p:txBody>
          <a:bodyPr wrap="square" lIns="0" tIns="0" rIns="0" bIns="0" rtlCol="0" anchor="ctr"/>
          <a:lstStyle/>
          <a:p>
            <a:pPr marL="0" indent="0" algn="ctr">
              <a:buNone/>
            </a:pPr>
            <a:r>
              <a:rPr lang="en-US" sz="2700" b="1" dirty="0">
                <a:solidFill>
                  <a:srgbClr val="39FF14"/>
                </a:solidFill>
                <a:latin typeface="Courier New" pitchFamily="34" charset="0"/>
                <a:ea typeface="Courier New" pitchFamily="34" charset="-122"/>
                <a:cs typeface="Courier New" pitchFamily="34" charset="-120"/>
              </a:rPr>
              <a:t>gandalfddi.github.io/pbibreach.html</a:t>
            </a:r>
            <a:endParaRPr lang="en-US" sz="2700" dirty="0"/>
          </a:p>
        </p:txBody>
      </p:sp>
      <p:sp>
        <p:nvSpPr>
          <p:cNvPr id="7" name="Text 5"/>
          <p:cNvSpPr/>
          <p:nvPr/>
        </p:nvSpPr>
        <p:spPr>
          <a:xfrm>
            <a:off x="37967" y="4058963"/>
            <a:ext cx="10515600" cy="411480"/>
          </a:xfrm>
          <a:prstGeom prst="rect">
            <a:avLst/>
          </a:prstGeom>
          <a:noFill/>
          <a:ln/>
        </p:spPr>
        <p:txBody>
          <a:bodyPr wrap="square" lIns="0" tIns="0" rIns="0" bIns="0" rtlCol="0" anchor="ctr"/>
          <a:lstStyle/>
          <a:p>
            <a:pPr marL="0" indent="0" algn="ctr">
              <a:buNone/>
            </a:pPr>
            <a:r>
              <a:rPr lang="en-US" sz="1400" dirty="0">
                <a:solidFill>
                  <a:srgbClr val="C8C8C8"/>
                </a:solidFill>
                <a:latin typeface="Courier New" pitchFamily="34" charset="0"/>
                <a:ea typeface="Courier New" pitchFamily="34" charset="-122"/>
                <a:cs typeface="Courier New" pitchFamily="34" charset="-120"/>
              </a:rPr>
              <a:t>Judgment · Trial argument · 25-page evidence package · Court packets · The 14 steps</a:t>
            </a:r>
            <a:endParaRPr lang="en-US" sz="1400" dirty="0"/>
          </a:p>
        </p:txBody>
      </p:sp>
      <p:sp>
        <p:nvSpPr>
          <p:cNvPr id="8" name="Text 6"/>
          <p:cNvSpPr/>
          <p:nvPr/>
        </p:nvSpPr>
        <p:spPr>
          <a:xfrm>
            <a:off x="37967" y="4445524"/>
            <a:ext cx="10515600" cy="365760"/>
          </a:xfrm>
          <a:prstGeom prst="rect">
            <a:avLst/>
          </a:prstGeom>
          <a:noFill/>
          <a:ln/>
        </p:spPr>
        <p:txBody>
          <a:bodyPr wrap="square" lIns="0" tIns="0" rIns="0" bIns="0" rtlCol="0" anchor="ctr"/>
          <a:lstStyle/>
          <a:p>
            <a:pPr marL="0" indent="0" algn="ctr">
              <a:buNone/>
            </a:pPr>
            <a:r>
              <a:rPr lang="en-US" sz="1300" i="1" dirty="0">
                <a:solidFill>
                  <a:srgbClr val="8A8A8A"/>
                </a:solidFill>
                <a:latin typeface="Courier New" pitchFamily="34" charset="0"/>
                <a:ea typeface="Courier New" pitchFamily="34" charset="-122"/>
                <a:cs typeface="Courier New" pitchFamily="34" charset="-120"/>
              </a:rPr>
              <a:t>IANAL. Legal-strategy framework, not legal advice. Verify your state's rules.</a:t>
            </a:r>
            <a:endParaRPr lang="en-US" sz="1300" dirty="0"/>
          </a:p>
        </p:txBody>
      </p:sp>
      <p:sp>
        <p:nvSpPr>
          <p:cNvPr id="9" name="Text 7"/>
          <p:cNvSpPr/>
          <p:nvPr/>
        </p:nvSpPr>
        <p:spPr>
          <a:xfrm>
            <a:off x="37967" y="4733545"/>
            <a:ext cx="10515600" cy="365760"/>
          </a:xfrm>
          <a:prstGeom prst="rect">
            <a:avLst/>
          </a:prstGeom>
          <a:noFill/>
          <a:ln/>
        </p:spPr>
        <p:txBody>
          <a:bodyPr wrap="square" lIns="0" tIns="0" rIns="0" bIns="0" rtlCol="0" anchor="ctr"/>
          <a:lstStyle/>
          <a:p>
            <a:pPr marL="0" indent="0" algn="ctr">
              <a:buNone/>
            </a:pPr>
            <a:r>
              <a:rPr lang="en-US" sz="1400" dirty="0">
                <a:solidFill>
                  <a:srgbClr val="FFB300"/>
                </a:solidFill>
                <a:latin typeface="Courier New" pitchFamily="34" charset="0"/>
                <a:ea typeface="Courier New" pitchFamily="34" charset="-122"/>
                <a:cs typeface="Courier New" pitchFamily="34" charset="-120"/>
              </a:rPr>
              <a:t>GandalfDDI - BlueSky · Mastodon (ioc.exchange) · gandalfddi.github.io</a:t>
            </a:r>
            <a:endParaRPr lang="en-US" sz="1400" dirty="0"/>
          </a:p>
        </p:txBody>
      </p:sp>
      <p:sp>
        <p:nvSpPr>
          <p:cNvPr id="11" name="Text 4">
            <a:extLst>
              <a:ext uri="{FF2B5EF4-FFF2-40B4-BE49-F238E27FC236}">
                <a16:creationId xmlns:a16="http://schemas.microsoft.com/office/drawing/2014/main" id="{53203DBD-BBED-33B7-EDEC-1438063B4684}"/>
              </a:ext>
            </a:extLst>
          </p:cNvPr>
          <p:cNvSpPr/>
          <p:nvPr/>
        </p:nvSpPr>
        <p:spPr>
          <a:xfrm>
            <a:off x="838482" y="5732142"/>
            <a:ext cx="10515600" cy="640080"/>
          </a:xfrm>
          <a:prstGeom prst="rect">
            <a:avLst/>
          </a:prstGeom>
          <a:noFill/>
          <a:ln/>
        </p:spPr>
        <p:txBody>
          <a:bodyPr wrap="square" lIns="0" tIns="0" rIns="0" bIns="0" rtlCol="0" anchor="ctr"/>
          <a:lstStyle/>
          <a:p>
            <a:pPr marL="0" indent="0" algn="ctr">
              <a:buNone/>
            </a:pPr>
            <a:r>
              <a:rPr lang="en-US" sz="2700" b="1" dirty="0">
                <a:solidFill>
                  <a:srgbClr val="39FF14"/>
                </a:solidFill>
                <a:latin typeface="Courier New" pitchFamily="34" charset="0"/>
                <a:ea typeface="Courier New" pitchFamily="34" charset="-122"/>
                <a:cs typeface="Courier New" pitchFamily="34" charset="-120"/>
              </a:rPr>
              <a:t>CTF Key #1 (5342, 511455802379373629457355)</a:t>
            </a:r>
            <a:endParaRPr lang="en-US" sz="2700" dirty="0"/>
          </a:p>
        </p:txBody>
      </p:sp>
      <p:pic>
        <p:nvPicPr>
          <p:cNvPr id="12" name="Picture 11">
            <a:extLst>
              <a:ext uri="{FF2B5EF4-FFF2-40B4-BE49-F238E27FC236}">
                <a16:creationId xmlns:a16="http://schemas.microsoft.com/office/drawing/2014/main" id="{8DE2AF5B-23F9-5746-41C9-7B0EB7D00E77}"/>
              </a:ext>
            </a:extLst>
          </p:cNvPr>
          <p:cNvPicPr>
            <a:picLocks noChangeAspect="1"/>
          </p:cNvPicPr>
          <p:nvPr/>
        </p:nvPicPr>
        <p:blipFill>
          <a:blip r:embed="rId3"/>
          <a:stretch>
            <a:fillRect/>
          </a:stretch>
        </p:blipFill>
        <p:spPr>
          <a:xfrm>
            <a:off x="9834118" y="2953614"/>
            <a:ext cx="2282620" cy="22826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935</TotalTime>
  <Words>4558</Words>
  <Application>Microsoft Office PowerPoint</Application>
  <PresentationFormat>Widescreen</PresentationFormat>
  <Paragraphs>278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Death by a Thousand Papercuts</dc:title>
  <dc:creator>Ken Hollis</dc:creator>
  <cp:lastModifiedBy>Ken Hollis</cp:lastModifiedBy>
  <cp:revision>96</cp:revision>
  <dcterms:created xsi:type="dcterms:W3CDTF">2026-07-19T04:26:28Z</dcterms:created>
  <dcterms:modified xsi:type="dcterms:W3CDTF">2026-10-23T20:23:07Z</dcterms:modified>
</cp:coreProperties>
</file>